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80C"/>
        </a:solidFill>
        <a:effectLst/>
      </p:bgPr>
    </p:bg>
    <p:spTree>
      <p:nvGrpSpPr>
        <p:cNvPr id="1" name=""/>
        <p:cNvGrpSpPr/>
        <p:nvPr/>
      </p:nvGrpSpPr>
      <p:grpSpPr/>
      <p:sp>
        <p:nvSpPr>
          <p:cNvPr id="2" name="TextBox 1"/>
          <p:cNvSpPr txBox="1"/>
          <p:nvPr/>
        </p:nvSpPr>
        <p:spPr>
          <a:xfrm>
            <a:off x="548640" y="548640"/>
            <a:ext cx="36576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WEBGRO / 2026 ] PROPOSAL</a:t>
            </a:r>
          </a:p>
        </p:txBody>
      </p:sp>
      <p:sp>
        <p:nvSpPr>
          <p:cNvPr id="3" name="Rectangle 2"/>
          <p:cNvSpPr/>
          <p:nvPr/>
        </p:nvSpPr>
        <p:spPr>
          <a:xfrm>
            <a:off x="548640" y="1051560"/>
            <a:ext cx="4114800" cy="73152"/>
          </a:xfrm>
          <a:prstGeom prst="rect">
            <a:avLst/>
          </a:prstGeom>
          <a:gradFill flip="none" rotWithShape="1">
            <a:gsLst>
              <a:gs pos="0">
                <a:srgbClr val="2D8DFF"/>
              </a:gs>
              <a:gs pos="50000">
                <a:srgbClr val="7C3AED"/>
              </a:gs>
              <a:gs pos="100000">
                <a:srgbClr val="00C9A7"/>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9144000" cy="3200400"/>
          </a:xfrm>
          <a:prstGeom prst="rect">
            <a:avLst/>
          </a:prstGeom>
          <a:noFill/>
        </p:spPr>
        <p:txBody>
          <a:bodyPr wrap="square" lIns="0" rIns="0" tIns="0" bIns="0" anchor="t">
            <a:spAutoFit/>
          </a:bodyPr>
          <a:lstStyle/>
          <a:p>
            <a:pPr algn="l">
              <a:lnSpc>
                <a:spcPct val="95000"/>
              </a:lnSpc>
            </a:pPr>
            <a:r>
              <a:rPr sz="8000" b="1" i="0">
                <a:solidFill>
                  <a:srgbClr val="EDEFF4"/>
                </a:solidFill>
                <a:latin typeface="Space Grotesk"/>
              </a:rPr>
              <a:t>A proposal for</a:t>
            </a:r>
          </a:p>
          <a:p>
            <a:pPr algn="l">
              <a:lnSpc>
                <a:spcPct val="95000"/>
              </a:lnSpc>
            </a:pPr>
            <a:r>
              <a:rPr sz="8000" b="1" i="0">
                <a:solidFill>
                  <a:srgbClr val="EDEFF4"/>
                </a:solidFill>
                <a:latin typeface="Space Grotesk"/>
              </a:rPr>
              <a:t>Are You Fleur Real.</a:t>
            </a:r>
          </a:p>
        </p:txBody>
      </p:sp>
      <p:sp>
        <p:nvSpPr>
          <p:cNvPr id="5" name="TextBox 4"/>
          <p:cNvSpPr txBox="1"/>
          <p:nvPr/>
        </p:nvSpPr>
        <p:spPr>
          <a:xfrm>
            <a:off x="548640" y="4389120"/>
            <a:ext cx="7772400" cy="1188720"/>
          </a:xfrm>
          <a:prstGeom prst="rect">
            <a:avLst/>
          </a:prstGeom>
          <a:noFill/>
        </p:spPr>
        <p:txBody>
          <a:bodyPr wrap="square" lIns="0" rIns="0" tIns="0" bIns="0" anchor="t">
            <a:spAutoFit/>
          </a:bodyPr>
          <a:lstStyle/>
          <a:p>
            <a:pPr algn="l">
              <a:lnSpc>
                <a:spcPct val="135000"/>
              </a:lnSpc>
            </a:pPr>
            <a:r>
              <a:rPr sz="2000" b="0" i="0">
                <a:solidFill>
                  <a:srgbClr val="9AA6BC"/>
                </a:solidFill>
                <a:latin typeface="Inter"/>
              </a:rPr>
              <a:t>A bespoke Shopify 2.0 rebuild, plus ongoing consultancy when you need it. Written April 2026.</a:t>
            </a:r>
          </a:p>
        </p:txBody>
      </p:sp>
      <p:sp>
        <p:nvSpPr>
          <p:cNvPr id="6" name="TextBox 5"/>
          <p:cNvSpPr txBox="1"/>
          <p:nvPr/>
        </p:nvSpPr>
        <p:spPr>
          <a:xfrm>
            <a:off x="548640" y="5806440"/>
            <a:ext cx="3657600" cy="548640"/>
          </a:xfrm>
          <a:prstGeom prst="rect">
            <a:avLst/>
          </a:prstGeom>
          <a:noFill/>
        </p:spPr>
        <p:txBody>
          <a:bodyPr wrap="square" lIns="0" rIns="0" tIns="0" bIns="0" anchor="t">
            <a:spAutoFit/>
          </a:bodyPr>
          <a:lstStyle/>
          <a:p>
            <a:pPr algn="l">
              <a:lnSpc>
                <a:spcPct val="120000"/>
              </a:lnSpc>
            </a:pPr>
            <a:r>
              <a:rPr sz="3600" b="1" i="0">
                <a:solidFill>
                  <a:srgbClr val="EDEFF4"/>
                </a:solidFill>
                <a:latin typeface="Space Grotesk"/>
              </a:rPr>
              <a:t>Webgro</a:t>
            </a:r>
          </a:p>
        </p:txBody>
      </p:sp>
      <p:sp>
        <p:nvSpPr>
          <p:cNvPr id="7" name="TextBox 6"/>
          <p:cNvSpPr txBox="1"/>
          <p:nvPr/>
        </p:nvSpPr>
        <p:spPr>
          <a:xfrm>
            <a:off x="548640" y="6355080"/>
            <a:ext cx="9144000" cy="274320"/>
          </a:xfrm>
          <a:prstGeom prst="rect">
            <a:avLst/>
          </a:prstGeom>
          <a:noFill/>
        </p:spPr>
        <p:txBody>
          <a:bodyPr wrap="square" lIns="0" rIns="0" tIns="0" bIns="0" anchor="t">
            <a:spAutoFit/>
          </a:bodyPr>
          <a:lstStyle/>
          <a:p>
            <a:pPr algn="l">
              <a:lnSpc>
                <a:spcPct val="120000"/>
              </a:lnSpc>
            </a:pPr>
            <a:r>
              <a:rPr sz="900" b="0" i="0" spc="260">
                <a:solidFill>
                  <a:srgbClr val="9AA6BC"/>
                </a:solidFill>
                <a:latin typeface="JetBrains Mono"/>
              </a:rPr>
              <a:t>AI-FIRST eCOMMERCE &amp; WORDPRESS AGENCY  ·  BRACKNELL, UK</a:t>
            </a:r>
          </a:p>
        </p:txBody>
      </p:sp>
      <p:sp>
        <p:nvSpPr>
          <p:cNvPr id="8" name="Oval 7"/>
          <p:cNvSpPr/>
          <p:nvPr/>
        </p:nvSpPr>
        <p:spPr>
          <a:xfrm>
            <a:off x="11496751" y="6080760"/>
            <a:ext cx="146304" cy="146304"/>
          </a:xfrm>
          <a:prstGeom prst="ellipse">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548640" y="2377440"/>
            <a:ext cx="73152" cy="2103120"/>
          </a:xfrm>
          <a:prstGeom prst="rect">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2743200" cy="1097280"/>
          </a:xfrm>
          <a:prstGeom prst="rect">
            <a:avLst/>
          </a:prstGeom>
          <a:noFill/>
        </p:spPr>
        <p:txBody>
          <a:bodyPr wrap="square" lIns="0" rIns="0" tIns="0" bIns="0" anchor="t">
            <a:spAutoFit/>
          </a:bodyPr>
          <a:lstStyle/>
          <a:p>
            <a:pPr algn="l">
              <a:lnSpc>
                <a:spcPct val="90000"/>
              </a:lnSpc>
            </a:pPr>
            <a:r>
              <a:rPr sz="12000" b="1" i="0">
                <a:solidFill>
                  <a:srgbClr val="2D8DFF"/>
                </a:solidFill>
                <a:latin typeface="Space Grotesk"/>
              </a:rPr>
              <a:t>01.</a:t>
            </a:r>
          </a:p>
        </p:txBody>
      </p:sp>
      <p:sp>
        <p:nvSpPr>
          <p:cNvPr id="4" name="TextBox 3"/>
          <p:cNvSpPr txBox="1"/>
          <p:nvPr/>
        </p:nvSpPr>
        <p:spPr>
          <a:xfrm>
            <a:off x="868680" y="3566160"/>
            <a:ext cx="10515600" cy="1371600"/>
          </a:xfrm>
          <a:prstGeom prst="rect">
            <a:avLst/>
          </a:prstGeom>
          <a:noFill/>
        </p:spPr>
        <p:txBody>
          <a:bodyPr wrap="square" lIns="0" rIns="0" tIns="0" bIns="0" anchor="t">
            <a:spAutoFit/>
          </a:bodyPr>
          <a:lstStyle/>
          <a:p>
            <a:pPr algn="l">
              <a:lnSpc>
                <a:spcPct val="100000"/>
              </a:lnSpc>
            </a:pPr>
            <a:r>
              <a:rPr sz="6400" b="1" i="0">
                <a:solidFill>
                  <a:srgbClr val="07080C"/>
                </a:solidFill>
                <a:latin typeface="Space Grotesk"/>
              </a:rPr>
              <a:t>Get to know us.</a:t>
            </a:r>
          </a:p>
        </p:txBody>
      </p:sp>
      <p:sp>
        <p:nvSpPr>
          <p:cNvPr id="5" name="TextBox 4"/>
          <p:cNvSpPr txBox="1"/>
          <p:nvPr/>
        </p:nvSpPr>
        <p:spPr>
          <a:xfrm>
            <a:off x="868680" y="4709160"/>
            <a:ext cx="9144000" cy="731520"/>
          </a:xfrm>
          <a:prstGeom prst="rect">
            <a:avLst/>
          </a:prstGeom>
          <a:noFill/>
        </p:spPr>
        <p:txBody>
          <a:bodyPr wrap="square" lIns="0" rIns="0" tIns="0" bIns="0" anchor="t">
            <a:spAutoFit/>
          </a:bodyPr>
          <a:lstStyle/>
          <a:p>
            <a:pPr algn="l">
              <a:lnSpc>
                <a:spcPct val="135000"/>
              </a:lnSpc>
            </a:pPr>
            <a:r>
              <a:rPr sz="2000" b="0" i="0">
                <a:solidFill>
                  <a:srgbClr val="525B6E"/>
                </a:solidFill>
                <a:latin typeface="Inter"/>
              </a:rPr>
              <a:t>The studio, the record, and the awards before we talk about you.</a:t>
            </a:r>
          </a:p>
        </p:txBody>
      </p:sp>
      <p:sp>
        <p:nvSpPr>
          <p:cNvPr id="6" name="TextBox 5"/>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7" name="TextBox 6"/>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[ 02 / 13 ]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685800"/>
            <a:ext cx="36576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[ 01 ] WHO WE ARE</a:t>
            </a:r>
          </a:p>
        </p:txBody>
      </p:sp>
      <p:sp>
        <p:nvSpPr>
          <p:cNvPr id="3" name="TextBox 2"/>
          <p:cNvSpPr txBox="1"/>
          <p:nvPr/>
        </p:nvSpPr>
        <p:spPr>
          <a:xfrm>
            <a:off x="548640" y="1188720"/>
            <a:ext cx="6400800" cy="2286000"/>
          </a:xfrm>
          <a:prstGeom prst="rect">
            <a:avLst/>
          </a:prstGeom>
          <a:noFill/>
        </p:spPr>
        <p:txBody>
          <a:bodyPr wrap="square" lIns="0" rIns="0" tIns="0" bIns="0" anchor="t">
            <a:spAutoFit/>
          </a:bodyPr>
          <a:lstStyle/>
          <a:p>
            <a:pPr algn="l">
              <a:lnSpc>
                <a:spcPct val="95000"/>
              </a:lnSpc>
            </a:pPr>
            <a:r>
              <a:rPr sz="7200" b="1" i="0">
                <a:solidFill>
                  <a:srgbClr val="07080C"/>
                </a:solidFill>
                <a:latin typeface="Space Grotesk"/>
              </a:rPr>
              <a:t>Hello.</a:t>
            </a:r>
          </a:p>
          <a:p>
            <a:pPr algn="l">
              <a:lnSpc>
                <a:spcPct val="95000"/>
              </a:lnSpc>
            </a:pPr>
            <a:r>
              <a:rPr sz="7200" b="1" i="0">
                <a:solidFill>
                  <a:srgbClr val="07080C"/>
                </a:solidFill>
                <a:latin typeface="Space Grotesk"/>
              </a:rPr>
              <a:t>We're Webgro.</a:t>
            </a:r>
          </a:p>
        </p:txBody>
      </p:sp>
      <p:sp>
        <p:nvSpPr>
          <p:cNvPr id="4" name="TextBox 3"/>
          <p:cNvSpPr txBox="1"/>
          <p:nvPr/>
        </p:nvSpPr>
        <p:spPr>
          <a:xfrm>
            <a:off x="548640" y="4023360"/>
            <a:ext cx="6400800" cy="2103120"/>
          </a:xfrm>
          <a:prstGeom prst="rect">
            <a:avLst/>
          </a:prstGeom>
          <a:noFill/>
        </p:spPr>
        <p:txBody>
          <a:bodyPr wrap="square" lIns="0" rIns="0" tIns="0" bIns="0" anchor="t">
            <a:spAutoFit/>
          </a:bodyPr>
          <a:lstStyle/>
          <a:p>
            <a:pPr algn="l">
              <a:lnSpc>
                <a:spcPct val="150000"/>
              </a:lnSpc>
            </a:pPr>
            <a:r>
              <a:rPr sz="1600" b="0" i="0">
                <a:solidFill>
                  <a:srgbClr val="525B6E"/>
                </a:solidFill>
                <a:latin typeface="Inter"/>
              </a:rPr>
              <a:t>A senior studio building the sharp end of modern eCommerce. Fifteen years deep on Shopify and WordPress, plus production AI tools that pay back in weeks, not quarters. No chatbot theatre, no hero launches, no agency-hopping for strategy, build, and marketing.</a:t>
            </a:r>
          </a:p>
        </p:txBody>
      </p:sp>
      <p:sp>
        <p:nvSpPr>
          <p:cNvPr id="5" name="Rounded Rectangle 4"/>
          <p:cNvSpPr/>
          <p:nvPr/>
        </p:nvSpPr>
        <p:spPr>
          <a:xfrm>
            <a:off x="7498079" y="1097280"/>
            <a:ext cx="4206240" cy="4937760"/>
          </a:xfrm>
          <a:prstGeom prst="roundRect">
            <a:avLst>
              <a:gd name="adj" fmla="val 4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39" y="1554480"/>
            <a:ext cx="3474720" cy="822960"/>
          </a:xfrm>
          <a:prstGeom prst="rect">
            <a:avLst/>
          </a:prstGeom>
          <a:noFill/>
        </p:spPr>
        <p:txBody>
          <a:bodyPr wrap="square" lIns="0" rIns="0" tIns="0" bIns="0" anchor="t">
            <a:spAutoFit/>
          </a:bodyPr>
          <a:lstStyle/>
          <a:p>
            <a:pPr algn="l">
              <a:lnSpc>
                <a:spcPct val="120000"/>
              </a:lnSpc>
            </a:pPr>
            <a:r>
              <a:rPr sz="5400" b="1" i="0">
                <a:solidFill>
                  <a:srgbClr val="2D8DFF"/>
                </a:solidFill>
                <a:latin typeface="Space Grotesk"/>
              </a:rPr>
              <a:t>15+ YRS</a:t>
            </a:r>
          </a:p>
        </p:txBody>
      </p:sp>
      <p:sp>
        <p:nvSpPr>
          <p:cNvPr id="7" name="TextBox 6"/>
          <p:cNvSpPr txBox="1"/>
          <p:nvPr/>
        </p:nvSpPr>
        <p:spPr>
          <a:xfrm>
            <a:off x="7863839" y="2423160"/>
            <a:ext cx="3474720" cy="457200"/>
          </a:xfrm>
          <a:prstGeom prst="rect">
            <a:avLst/>
          </a:prstGeom>
          <a:noFill/>
        </p:spPr>
        <p:txBody>
          <a:bodyPr wrap="square" lIns="0" rIns="0" tIns="0" bIns="0" anchor="t">
            <a:spAutoFit/>
          </a:bodyPr>
          <a:lstStyle/>
          <a:p>
            <a:pPr algn="l">
              <a:lnSpc>
                <a:spcPct val="120000"/>
              </a:lnSpc>
            </a:pPr>
            <a:r>
              <a:rPr sz="1300" b="0" i="0">
                <a:solidFill>
                  <a:srgbClr val="525B6E"/>
                </a:solidFill>
                <a:latin typeface="Inter"/>
              </a:rPr>
              <a:t>eCommerce &amp; WordPress</a:t>
            </a:r>
          </a:p>
        </p:txBody>
      </p:sp>
      <p:sp>
        <p:nvSpPr>
          <p:cNvPr id="8" name="Rectangle 7"/>
          <p:cNvSpPr/>
          <p:nvPr/>
        </p:nvSpPr>
        <p:spPr>
          <a:xfrm>
            <a:off x="7863839" y="2880360"/>
            <a:ext cx="3474720" cy="9525"/>
          </a:xfrm>
          <a:prstGeom prst="rect">
            <a:avLst/>
          </a:prstGeom>
          <a:solidFill>
            <a:srgbClr val="E6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39" y="3108960"/>
            <a:ext cx="3474720" cy="822960"/>
          </a:xfrm>
          <a:prstGeom prst="rect">
            <a:avLst/>
          </a:prstGeom>
          <a:noFill/>
        </p:spPr>
        <p:txBody>
          <a:bodyPr wrap="square" lIns="0" rIns="0" tIns="0" bIns="0" anchor="t">
            <a:spAutoFit/>
          </a:bodyPr>
          <a:lstStyle/>
          <a:p>
            <a:pPr algn="l">
              <a:lnSpc>
                <a:spcPct val="120000"/>
              </a:lnSpc>
            </a:pPr>
            <a:r>
              <a:rPr sz="5400" b="1" i="0">
                <a:solidFill>
                  <a:srgbClr val="7C3AED"/>
                </a:solidFill>
                <a:latin typeface="Space Grotesk"/>
              </a:rPr>
              <a:t>5x</a:t>
            </a:r>
          </a:p>
        </p:txBody>
      </p:sp>
      <p:sp>
        <p:nvSpPr>
          <p:cNvPr id="10" name="TextBox 9"/>
          <p:cNvSpPr txBox="1"/>
          <p:nvPr/>
        </p:nvSpPr>
        <p:spPr>
          <a:xfrm>
            <a:off x="7863839" y="3977640"/>
            <a:ext cx="3474720" cy="457200"/>
          </a:xfrm>
          <a:prstGeom prst="rect">
            <a:avLst/>
          </a:prstGeom>
          <a:noFill/>
        </p:spPr>
        <p:txBody>
          <a:bodyPr wrap="square" lIns="0" rIns="0" tIns="0" bIns="0" anchor="t">
            <a:spAutoFit/>
          </a:bodyPr>
          <a:lstStyle/>
          <a:p>
            <a:pPr algn="l">
              <a:lnSpc>
                <a:spcPct val="120000"/>
              </a:lnSpc>
            </a:pPr>
            <a:r>
              <a:rPr sz="1300" b="0" i="0">
                <a:solidFill>
                  <a:srgbClr val="525B6E"/>
                </a:solidFill>
                <a:latin typeface="Inter"/>
              </a:rPr>
              <a:t>Award-winning studio</a:t>
            </a:r>
          </a:p>
        </p:txBody>
      </p:sp>
      <p:sp>
        <p:nvSpPr>
          <p:cNvPr id="11" name="Rectangle 10"/>
          <p:cNvSpPr/>
          <p:nvPr/>
        </p:nvSpPr>
        <p:spPr>
          <a:xfrm>
            <a:off x="7863839" y="4434840"/>
            <a:ext cx="3474720" cy="9525"/>
          </a:xfrm>
          <a:prstGeom prst="rect">
            <a:avLst/>
          </a:prstGeom>
          <a:solidFill>
            <a:srgbClr val="E6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39" y="4663440"/>
            <a:ext cx="3474720" cy="822960"/>
          </a:xfrm>
          <a:prstGeom prst="rect">
            <a:avLst/>
          </a:prstGeom>
          <a:noFill/>
        </p:spPr>
        <p:txBody>
          <a:bodyPr wrap="square" lIns="0" rIns="0" tIns="0" bIns="0" anchor="t">
            <a:spAutoFit/>
          </a:bodyPr>
          <a:lstStyle/>
          <a:p>
            <a:pPr algn="l">
              <a:lnSpc>
                <a:spcPct val="120000"/>
              </a:lnSpc>
            </a:pPr>
            <a:r>
              <a:rPr sz="5400" b="1" i="0">
                <a:solidFill>
                  <a:srgbClr val="00C9A7"/>
                </a:solidFill>
                <a:latin typeface="Space Grotesk"/>
              </a:rPr>
              <a:t>£3M+</a:t>
            </a:r>
          </a:p>
        </p:txBody>
      </p:sp>
      <p:sp>
        <p:nvSpPr>
          <p:cNvPr id="13" name="TextBox 12"/>
          <p:cNvSpPr txBox="1"/>
          <p:nvPr/>
        </p:nvSpPr>
        <p:spPr>
          <a:xfrm>
            <a:off x="7863839" y="5532120"/>
            <a:ext cx="3474720" cy="457200"/>
          </a:xfrm>
          <a:prstGeom prst="rect">
            <a:avLst/>
          </a:prstGeom>
          <a:noFill/>
        </p:spPr>
        <p:txBody>
          <a:bodyPr wrap="square" lIns="0" rIns="0" tIns="0" bIns="0" anchor="t">
            <a:spAutoFit/>
          </a:bodyPr>
          <a:lstStyle/>
          <a:p>
            <a:pPr algn="l">
              <a:lnSpc>
                <a:spcPct val="120000"/>
              </a:lnSpc>
            </a:pPr>
            <a:r>
              <a:rPr sz="1300" b="0" i="0">
                <a:solidFill>
                  <a:srgbClr val="525B6E"/>
                </a:solidFill>
                <a:latin typeface="Inter"/>
              </a:rPr>
              <a:t>Email revenue delivered annually</a:t>
            </a:r>
          </a:p>
        </p:txBody>
      </p:sp>
      <p:sp>
        <p:nvSpPr>
          <p:cNvPr id="14" name="TextBox 13"/>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15" name="TextBox 14"/>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[ 03 / 13 ]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548640"/>
            <a:ext cx="45720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[ 02 ] WHAT WE DO</a:t>
            </a:r>
          </a:p>
        </p:txBody>
      </p:sp>
      <p:sp>
        <p:nvSpPr>
          <p:cNvPr id="3" name="TextBox 2"/>
          <p:cNvSpPr txBox="1"/>
          <p:nvPr/>
        </p:nvSpPr>
        <p:spPr>
          <a:xfrm>
            <a:off x="548640" y="960120"/>
            <a:ext cx="10972800" cy="1188720"/>
          </a:xfrm>
          <a:prstGeom prst="rect">
            <a:avLst/>
          </a:prstGeom>
          <a:noFill/>
        </p:spPr>
        <p:txBody>
          <a:bodyPr wrap="square" lIns="0" rIns="0" tIns="0" bIns="0" anchor="t">
            <a:spAutoFit/>
          </a:bodyPr>
          <a:lstStyle/>
          <a:p>
            <a:pPr algn="l">
              <a:lnSpc>
                <a:spcPct val="100000"/>
              </a:lnSpc>
            </a:pPr>
            <a:r>
              <a:rPr sz="5400" b="1" i="0">
                <a:solidFill>
                  <a:srgbClr val="07080C"/>
                </a:solidFill>
                <a:latin typeface="Space Grotesk"/>
              </a:rPr>
              <a:t>Six capabilities, one studio.</a:t>
            </a:r>
          </a:p>
        </p:txBody>
      </p:sp>
      <p:sp>
        <p:nvSpPr>
          <p:cNvPr id="4" name="TextBox 3"/>
          <p:cNvSpPr txBox="1"/>
          <p:nvPr/>
        </p:nvSpPr>
        <p:spPr>
          <a:xfrm>
            <a:off x="548640" y="1965960"/>
            <a:ext cx="9144000" cy="548640"/>
          </a:xfrm>
          <a:prstGeom prst="rect">
            <a:avLst/>
          </a:prstGeom>
          <a:noFill/>
        </p:spPr>
        <p:txBody>
          <a:bodyPr wrap="square" lIns="0" rIns="0" tIns="0" bIns="0" anchor="t">
            <a:spAutoFit/>
          </a:bodyPr>
          <a:lstStyle/>
          <a:p>
            <a:pPr algn="l">
              <a:lnSpc>
                <a:spcPct val="120000"/>
              </a:lnSpc>
            </a:pPr>
            <a:r>
              <a:rPr sz="1500" b="0" i="0">
                <a:solidFill>
                  <a:srgbClr val="525B6E"/>
                </a:solidFill>
                <a:latin typeface="Inter"/>
              </a:rPr>
              <a:t>No agency-hopping for strategy, build, or marketing. Same team across the whole loop.</a:t>
            </a:r>
          </a:p>
        </p:txBody>
      </p:sp>
      <p:sp>
        <p:nvSpPr>
          <p:cNvPr id="5" name="Rounded Rectangle 4"/>
          <p:cNvSpPr/>
          <p:nvPr/>
        </p:nvSpPr>
        <p:spPr>
          <a:xfrm>
            <a:off x="548640" y="2743200"/>
            <a:ext cx="3694176" cy="1874519"/>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3063240"/>
            <a:ext cx="164592" cy="164592"/>
          </a:xfrm>
          <a:prstGeom prst="ellipse">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017520"/>
            <a:ext cx="914400" cy="274320"/>
          </a:xfrm>
          <a:prstGeom prst="rect">
            <a:avLst/>
          </a:prstGeom>
          <a:noFill/>
        </p:spPr>
        <p:txBody>
          <a:bodyPr wrap="square" lIns="0" rIns="0" tIns="0" bIns="0" anchor="t">
            <a:spAutoFit/>
          </a:bodyPr>
          <a:lstStyle/>
          <a:p>
            <a:pPr algn="l">
              <a:lnSpc>
                <a:spcPct val="120000"/>
              </a:lnSpc>
            </a:pPr>
            <a:r>
              <a:rPr sz="1000" b="0" i="0" spc="200">
                <a:solidFill>
                  <a:srgbClr val="2D8DFF"/>
                </a:solidFill>
                <a:latin typeface="JetBrains Mono"/>
              </a:rPr>
              <a:t>01</a:t>
            </a:r>
          </a:p>
        </p:txBody>
      </p:sp>
      <p:sp>
        <p:nvSpPr>
          <p:cNvPr id="8" name="TextBox 7"/>
          <p:cNvSpPr txBox="1"/>
          <p:nvPr/>
        </p:nvSpPr>
        <p:spPr>
          <a:xfrm>
            <a:off x="868680" y="3429000"/>
            <a:ext cx="3054096" cy="548640"/>
          </a:xfrm>
          <a:prstGeom prst="rect">
            <a:avLst/>
          </a:prstGeom>
          <a:noFill/>
        </p:spPr>
        <p:txBody>
          <a:bodyPr wrap="square" lIns="0" rIns="0" tIns="0" bIns="0" anchor="t">
            <a:spAutoFit/>
          </a:bodyPr>
          <a:lstStyle/>
          <a:p>
            <a:pPr algn="l">
              <a:lnSpc>
                <a:spcPct val="120000"/>
              </a:lnSpc>
            </a:pPr>
            <a:r>
              <a:rPr sz="2400" b="1" i="0">
                <a:solidFill>
                  <a:srgbClr val="07080C"/>
                </a:solidFill>
                <a:latin typeface="Space Grotesk"/>
              </a:rPr>
              <a:t>Websites</a:t>
            </a:r>
          </a:p>
        </p:txBody>
      </p:sp>
      <p:sp>
        <p:nvSpPr>
          <p:cNvPr id="9" name="TextBox 8"/>
          <p:cNvSpPr txBox="1"/>
          <p:nvPr/>
        </p:nvSpPr>
        <p:spPr>
          <a:xfrm>
            <a:off x="868680" y="3931920"/>
            <a:ext cx="3054096" cy="822960"/>
          </a:xfrm>
          <a:prstGeom prst="rect">
            <a:avLst/>
          </a:prstGeom>
          <a:noFill/>
        </p:spPr>
        <p:txBody>
          <a:bodyPr wrap="square" lIns="0" rIns="0" tIns="0" bIns="0" anchor="t">
            <a:spAutoFit/>
          </a:bodyPr>
          <a:lstStyle/>
          <a:p>
            <a:pPr algn="l">
              <a:lnSpc>
                <a:spcPct val="135000"/>
              </a:lnSpc>
            </a:pPr>
            <a:r>
              <a:rPr sz="1200" b="0" i="0">
                <a:solidFill>
                  <a:srgbClr val="525B6E"/>
                </a:solidFill>
                <a:latin typeface="Inter"/>
              </a:rPr>
              <a:t>Shopify &amp; WordPress builds, fast by default.</a:t>
            </a:r>
          </a:p>
        </p:txBody>
      </p:sp>
      <p:sp>
        <p:nvSpPr>
          <p:cNvPr id="10" name="Rounded Rectangle 9"/>
          <p:cNvSpPr/>
          <p:nvPr/>
        </p:nvSpPr>
        <p:spPr>
          <a:xfrm>
            <a:off x="4352544" y="2743200"/>
            <a:ext cx="3694176" cy="1874519"/>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72584" y="3063240"/>
            <a:ext cx="164592" cy="1645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46904" y="3017520"/>
            <a:ext cx="914400" cy="274320"/>
          </a:xfrm>
          <a:prstGeom prst="rect">
            <a:avLst/>
          </a:prstGeom>
          <a:noFill/>
        </p:spPr>
        <p:txBody>
          <a:bodyPr wrap="square" lIns="0" rIns="0" tIns="0" bIns="0" anchor="t">
            <a:spAutoFit/>
          </a:bodyPr>
          <a:lstStyle/>
          <a:p>
            <a:pPr algn="l">
              <a:lnSpc>
                <a:spcPct val="120000"/>
              </a:lnSpc>
            </a:pPr>
            <a:r>
              <a:rPr sz="1000" b="0" i="0" spc="200">
                <a:solidFill>
                  <a:srgbClr val="7C3AED"/>
                </a:solidFill>
                <a:latin typeface="JetBrains Mono"/>
              </a:rPr>
              <a:t>02</a:t>
            </a:r>
          </a:p>
        </p:txBody>
      </p:sp>
      <p:sp>
        <p:nvSpPr>
          <p:cNvPr id="13" name="TextBox 12"/>
          <p:cNvSpPr txBox="1"/>
          <p:nvPr/>
        </p:nvSpPr>
        <p:spPr>
          <a:xfrm>
            <a:off x="4672584" y="3429000"/>
            <a:ext cx="3054096" cy="548640"/>
          </a:xfrm>
          <a:prstGeom prst="rect">
            <a:avLst/>
          </a:prstGeom>
          <a:noFill/>
        </p:spPr>
        <p:txBody>
          <a:bodyPr wrap="square" lIns="0" rIns="0" tIns="0" bIns="0" anchor="t">
            <a:spAutoFit/>
          </a:bodyPr>
          <a:lstStyle/>
          <a:p>
            <a:pPr algn="l">
              <a:lnSpc>
                <a:spcPct val="120000"/>
              </a:lnSpc>
            </a:pPr>
            <a:r>
              <a:rPr sz="2400" b="1" i="0">
                <a:solidFill>
                  <a:srgbClr val="07080C"/>
                </a:solidFill>
                <a:latin typeface="Space Grotesk"/>
              </a:rPr>
              <a:t>Consultancy</a:t>
            </a:r>
          </a:p>
        </p:txBody>
      </p:sp>
      <p:sp>
        <p:nvSpPr>
          <p:cNvPr id="14" name="TextBox 13"/>
          <p:cNvSpPr txBox="1"/>
          <p:nvPr/>
        </p:nvSpPr>
        <p:spPr>
          <a:xfrm>
            <a:off x="4672584" y="3931920"/>
            <a:ext cx="3054096" cy="822960"/>
          </a:xfrm>
          <a:prstGeom prst="rect">
            <a:avLst/>
          </a:prstGeom>
          <a:noFill/>
        </p:spPr>
        <p:txBody>
          <a:bodyPr wrap="square" lIns="0" rIns="0" tIns="0" bIns="0" anchor="t">
            <a:spAutoFit/>
          </a:bodyPr>
          <a:lstStyle/>
          <a:p>
            <a:pPr algn="l">
              <a:lnSpc>
                <a:spcPct val="135000"/>
              </a:lnSpc>
            </a:pPr>
            <a:r>
              <a:rPr sz="1200" b="0" i="0">
                <a:solidFill>
                  <a:srgbClr val="525B6E"/>
                </a:solidFill>
                <a:latin typeface="Inter"/>
              </a:rPr>
              <a:t>Senior eCommerce expertise, shaped to your team.</a:t>
            </a:r>
          </a:p>
        </p:txBody>
      </p:sp>
      <p:sp>
        <p:nvSpPr>
          <p:cNvPr id="15" name="Rounded Rectangle 14"/>
          <p:cNvSpPr/>
          <p:nvPr/>
        </p:nvSpPr>
        <p:spPr>
          <a:xfrm>
            <a:off x="8156448" y="2743200"/>
            <a:ext cx="3694176" cy="1874519"/>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76488" y="3063240"/>
            <a:ext cx="164592" cy="164592"/>
          </a:xfrm>
          <a:prstGeom prst="ellipse">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50808" y="3017520"/>
            <a:ext cx="914400" cy="274320"/>
          </a:xfrm>
          <a:prstGeom prst="rect">
            <a:avLst/>
          </a:prstGeom>
          <a:noFill/>
        </p:spPr>
        <p:txBody>
          <a:bodyPr wrap="square" lIns="0" rIns="0" tIns="0" bIns="0" anchor="t">
            <a:spAutoFit/>
          </a:bodyPr>
          <a:lstStyle/>
          <a:p>
            <a:pPr algn="l">
              <a:lnSpc>
                <a:spcPct val="120000"/>
              </a:lnSpc>
            </a:pPr>
            <a:r>
              <a:rPr sz="1000" b="0" i="0" spc="200">
                <a:solidFill>
                  <a:srgbClr val="00C9A7"/>
                </a:solidFill>
                <a:latin typeface="JetBrains Mono"/>
              </a:rPr>
              <a:t>03</a:t>
            </a:r>
          </a:p>
        </p:txBody>
      </p:sp>
      <p:sp>
        <p:nvSpPr>
          <p:cNvPr id="18" name="TextBox 17"/>
          <p:cNvSpPr txBox="1"/>
          <p:nvPr/>
        </p:nvSpPr>
        <p:spPr>
          <a:xfrm>
            <a:off x="8476488" y="3429000"/>
            <a:ext cx="3054096" cy="548640"/>
          </a:xfrm>
          <a:prstGeom prst="rect">
            <a:avLst/>
          </a:prstGeom>
          <a:noFill/>
        </p:spPr>
        <p:txBody>
          <a:bodyPr wrap="square" lIns="0" rIns="0" tIns="0" bIns="0" anchor="t">
            <a:spAutoFit/>
          </a:bodyPr>
          <a:lstStyle/>
          <a:p>
            <a:pPr algn="l">
              <a:lnSpc>
                <a:spcPct val="120000"/>
              </a:lnSpc>
            </a:pPr>
            <a:r>
              <a:rPr sz="2400" b="1" i="0">
                <a:solidFill>
                  <a:srgbClr val="07080C"/>
                </a:solidFill>
                <a:latin typeface="Space Grotesk"/>
              </a:rPr>
              <a:t>Automation &amp; AI</a:t>
            </a:r>
          </a:p>
        </p:txBody>
      </p:sp>
      <p:sp>
        <p:nvSpPr>
          <p:cNvPr id="19" name="TextBox 18"/>
          <p:cNvSpPr txBox="1"/>
          <p:nvPr/>
        </p:nvSpPr>
        <p:spPr>
          <a:xfrm>
            <a:off x="8476488" y="3931920"/>
            <a:ext cx="3054096" cy="822960"/>
          </a:xfrm>
          <a:prstGeom prst="rect">
            <a:avLst/>
          </a:prstGeom>
          <a:noFill/>
        </p:spPr>
        <p:txBody>
          <a:bodyPr wrap="square" lIns="0" rIns="0" tIns="0" bIns="0" anchor="t">
            <a:spAutoFit/>
          </a:bodyPr>
          <a:lstStyle/>
          <a:p>
            <a:pPr algn="l">
              <a:lnSpc>
                <a:spcPct val="135000"/>
              </a:lnSpc>
            </a:pPr>
            <a:r>
              <a:rPr sz="1200" b="0" i="0">
                <a:solidFill>
                  <a:srgbClr val="525B6E"/>
                </a:solidFill>
                <a:latin typeface="Inter"/>
              </a:rPr>
              <a:t>Production AI that earns its keep week one.</a:t>
            </a:r>
          </a:p>
        </p:txBody>
      </p:sp>
      <p:sp>
        <p:nvSpPr>
          <p:cNvPr id="20" name="Rounded Rectangle 19"/>
          <p:cNvSpPr/>
          <p:nvPr/>
        </p:nvSpPr>
        <p:spPr>
          <a:xfrm>
            <a:off x="548640" y="4727447"/>
            <a:ext cx="3694176" cy="1874519"/>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 y="5047487"/>
            <a:ext cx="164592" cy="164592"/>
          </a:xfrm>
          <a:prstGeom prst="ellipse">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5001767"/>
            <a:ext cx="914400" cy="274320"/>
          </a:xfrm>
          <a:prstGeom prst="rect">
            <a:avLst/>
          </a:prstGeom>
          <a:noFill/>
        </p:spPr>
        <p:txBody>
          <a:bodyPr wrap="square" lIns="0" rIns="0" tIns="0" bIns="0" anchor="t">
            <a:spAutoFit/>
          </a:bodyPr>
          <a:lstStyle/>
          <a:p>
            <a:pPr algn="l">
              <a:lnSpc>
                <a:spcPct val="120000"/>
              </a:lnSpc>
            </a:pPr>
            <a:r>
              <a:rPr sz="1000" b="0" i="0" spc="200">
                <a:solidFill>
                  <a:srgbClr val="2D8DFF"/>
                </a:solidFill>
                <a:latin typeface="JetBrains Mono"/>
              </a:rPr>
              <a:t>04</a:t>
            </a:r>
          </a:p>
        </p:txBody>
      </p:sp>
      <p:sp>
        <p:nvSpPr>
          <p:cNvPr id="23" name="TextBox 22"/>
          <p:cNvSpPr txBox="1"/>
          <p:nvPr/>
        </p:nvSpPr>
        <p:spPr>
          <a:xfrm>
            <a:off x="868680" y="5413247"/>
            <a:ext cx="3054096" cy="548640"/>
          </a:xfrm>
          <a:prstGeom prst="rect">
            <a:avLst/>
          </a:prstGeom>
          <a:noFill/>
        </p:spPr>
        <p:txBody>
          <a:bodyPr wrap="square" lIns="0" rIns="0" tIns="0" bIns="0" anchor="t">
            <a:spAutoFit/>
          </a:bodyPr>
          <a:lstStyle/>
          <a:p>
            <a:pPr algn="l">
              <a:lnSpc>
                <a:spcPct val="120000"/>
              </a:lnSpc>
            </a:pPr>
            <a:r>
              <a:rPr sz="2400" b="1" i="0">
                <a:solidFill>
                  <a:srgbClr val="07080C"/>
                </a:solidFill>
                <a:latin typeface="Space Grotesk"/>
              </a:rPr>
              <a:t>SEO</a:t>
            </a:r>
          </a:p>
        </p:txBody>
      </p:sp>
      <p:sp>
        <p:nvSpPr>
          <p:cNvPr id="24" name="TextBox 23"/>
          <p:cNvSpPr txBox="1"/>
          <p:nvPr/>
        </p:nvSpPr>
        <p:spPr>
          <a:xfrm>
            <a:off x="868680" y="5916167"/>
            <a:ext cx="3054096" cy="822960"/>
          </a:xfrm>
          <a:prstGeom prst="rect">
            <a:avLst/>
          </a:prstGeom>
          <a:noFill/>
        </p:spPr>
        <p:txBody>
          <a:bodyPr wrap="square" lIns="0" rIns="0" tIns="0" bIns="0" anchor="t">
            <a:spAutoFit/>
          </a:bodyPr>
          <a:lstStyle/>
          <a:p>
            <a:pPr algn="l">
              <a:lnSpc>
                <a:spcPct val="135000"/>
              </a:lnSpc>
            </a:pPr>
            <a:r>
              <a:rPr sz="1200" b="0" i="0">
                <a:solidFill>
                  <a:srgbClr val="525B6E"/>
                </a:solidFill>
                <a:latin typeface="Inter"/>
              </a:rPr>
              <a:t>Technical foundations, content that compounds.</a:t>
            </a:r>
          </a:p>
        </p:txBody>
      </p:sp>
      <p:sp>
        <p:nvSpPr>
          <p:cNvPr id="25" name="Rounded Rectangle 24"/>
          <p:cNvSpPr/>
          <p:nvPr/>
        </p:nvSpPr>
        <p:spPr>
          <a:xfrm>
            <a:off x="4352544" y="4727447"/>
            <a:ext cx="3694176" cy="1874519"/>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672584" y="5047487"/>
            <a:ext cx="164592" cy="1645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46904" y="5001767"/>
            <a:ext cx="914400" cy="274320"/>
          </a:xfrm>
          <a:prstGeom prst="rect">
            <a:avLst/>
          </a:prstGeom>
          <a:noFill/>
        </p:spPr>
        <p:txBody>
          <a:bodyPr wrap="square" lIns="0" rIns="0" tIns="0" bIns="0" anchor="t">
            <a:spAutoFit/>
          </a:bodyPr>
          <a:lstStyle/>
          <a:p>
            <a:pPr algn="l">
              <a:lnSpc>
                <a:spcPct val="120000"/>
              </a:lnSpc>
            </a:pPr>
            <a:r>
              <a:rPr sz="1000" b="0" i="0" spc="200">
                <a:solidFill>
                  <a:srgbClr val="7C3AED"/>
                </a:solidFill>
                <a:latin typeface="JetBrains Mono"/>
              </a:rPr>
              <a:t>05</a:t>
            </a:r>
          </a:p>
        </p:txBody>
      </p:sp>
      <p:sp>
        <p:nvSpPr>
          <p:cNvPr id="28" name="TextBox 27"/>
          <p:cNvSpPr txBox="1"/>
          <p:nvPr/>
        </p:nvSpPr>
        <p:spPr>
          <a:xfrm>
            <a:off x="4672584" y="5413247"/>
            <a:ext cx="3054096" cy="548640"/>
          </a:xfrm>
          <a:prstGeom prst="rect">
            <a:avLst/>
          </a:prstGeom>
          <a:noFill/>
        </p:spPr>
        <p:txBody>
          <a:bodyPr wrap="square" lIns="0" rIns="0" tIns="0" bIns="0" anchor="t">
            <a:spAutoFit/>
          </a:bodyPr>
          <a:lstStyle/>
          <a:p>
            <a:pPr algn="l">
              <a:lnSpc>
                <a:spcPct val="120000"/>
              </a:lnSpc>
            </a:pPr>
            <a:r>
              <a:rPr sz="2400" b="1" i="0">
                <a:solidFill>
                  <a:srgbClr val="07080C"/>
                </a:solidFill>
                <a:latin typeface="Space Grotesk"/>
              </a:rPr>
              <a:t>Marketing</a:t>
            </a:r>
          </a:p>
        </p:txBody>
      </p:sp>
      <p:sp>
        <p:nvSpPr>
          <p:cNvPr id="29" name="TextBox 28"/>
          <p:cNvSpPr txBox="1"/>
          <p:nvPr/>
        </p:nvSpPr>
        <p:spPr>
          <a:xfrm>
            <a:off x="4672584" y="5916167"/>
            <a:ext cx="3054096" cy="822960"/>
          </a:xfrm>
          <a:prstGeom prst="rect">
            <a:avLst/>
          </a:prstGeom>
          <a:noFill/>
        </p:spPr>
        <p:txBody>
          <a:bodyPr wrap="square" lIns="0" rIns="0" tIns="0" bIns="0" anchor="t">
            <a:spAutoFit/>
          </a:bodyPr>
          <a:lstStyle/>
          <a:p>
            <a:pPr algn="l">
              <a:lnSpc>
                <a:spcPct val="135000"/>
              </a:lnSpc>
            </a:pPr>
            <a:r>
              <a:rPr sz="1200" b="0" i="0">
                <a:solidFill>
                  <a:srgbClr val="525B6E"/>
                </a:solidFill>
                <a:latin typeface="Inter"/>
              </a:rPr>
              <a:t>Paid + email + analytics as one loop.</a:t>
            </a:r>
          </a:p>
        </p:txBody>
      </p:sp>
      <p:sp>
        <p:nvSpPr>
          <p:cNvPr id="30" name="Rounded Rectangle 29"/>
          <p:cNvSpPr/>
          <p:nvPr/>
        </p:nvSpPr>
        <p:spPr>
          <a:xfrm>
            <a:off x="8156448" y="4727447"/>
            <a:ext cx="3694176" cy="1874519"/>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76488" y="5047487"/>
            <a:ext cx="164592" cy="164592"/>
          </a:xfrm>
          <a:prstGeom prst="ellipse">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750808" y="5001767"/>
            <a:ext cx="914400" cy="274320"/>
          </a:xfrm>
          <a:prstGeom prst="rect">
            <a:avLst/>
          </a:prstGeom>
          <a:noFill/>
        </p:spPr>
        <p:txBody>
          <a:bodyPr wrap="square" lIns="0" rIns="0" tIns="0" bIns="0" anchor="t">
            <a:spAutoFit/>
          </a:bodyPr>
          <a:lstStyle/>
          <a:p>
            <a:pPr algn="l">
              <a:lnSpc>
                <a:spcPct val="120000"/>
              </a:lnSpc>
            </a:pPr>
            <a:r>
              <a:rPr sz="1000" b="0" i="0" spc="200">
                <a:solidFill>
                  <a:srgbClr val="00C9A7"/>
                </a:solidFill>
                <a:latin typeface="JetBrains Mono"/>
              </a:rPr>
              <a:t>06</a:t>
            </a:r>
          </a:p>
        </p:txBody>
      </p:sp>
      <p:sp>
        <p:nvSpPr>
          <p:cNvPr id="33" name="TextBox 32"/>
          <p:cNvSpPr txBox="1"/>
          <p:nvPr/>
        </p:nvSpPr>
        <p:spPr>
          <a:xfrm>
            <a:off x="8476488" y="5413247"/>
            <a:ext cx="3054096" cy="548640"/>
          </a:xfrm>
          <a:prstGeom prst="rect">
            <a:avLst/>
          </a:prstGeom>
          <a:noFill/>
        </p:spPr>
        <p:txBody>
          <a:bodyPr wrap="square" lIns="0" rIns="0" tIns="0" bIns="0" anchor="t">
            <a:spAutoFit/>
          </a:bodyPr>
          <a:lstStyle/>
          <a:p>
            <a:pPr algn="l">
              <a:lnSpc>
                <a:spcPct val="120000"/>
              </a:lnSpc>
            </a:pPr>
            <a:r>
              <a:rPr sz="2400" b="1" i="0">
                <a:solidFill>
                  <a:srgbClr val="07080C"/>
                </a:solidFill>
                <a:latin typeface="Space Grotesk"/>
              </a:rPr>
              <a:t>Design</a:t>
            </a:r>
          </a:p>
        </p:txBody>
      </p:sp>
      <p:sp>
        <p:nvSpPr>
          <p:cNvPr id="34" name="TextBox 33"/>
          <p:cNvSpPr txBox="1"/>
          <p:nvPr/>
        </p:nvSpPr>
        <p:spPr>
          <a:xfrm>
            <a:off x="8476488" y="5916167"/>
            <a:ext cx="3054096" cy="822960"/>
          </a:xfrm>
          <a:prstGeom prst="rect">
            <a:avLst/>
          </a:prstGeom>
          <a:noFill/>
        </p:spPr>
        <p:txBody>
          <a:bodyPr wrap="square" lIns="0" rIns="0" tIns="0" bIns="0" anchor="t">
            <a:spAutoFit/>
          </a:bodyPr>
          <a:lstStyle/>
          <a:p>
            <a:pPr algn="l">
              <a:lnSpc>
                <a:spcPct val="135000"/>
              </a:lnSpc>
            </a:pPr>
            <a:r>
              <a:rPr sz="1200" b="0" i="0">
                <a:solidFill>
                  <a:srgbClr val="525B6E"/>
                </a:solidFill>
                <a:latin typeface="Inter"/>
              </a:rPr>
              <a:t>Systems, not decoration.</a:t>
            </a:r>
          </a:p>
        </p:txBody>
      </p:sp>
      <p:sp>
        <p:nvSpPr>
          <p:cNvPr id="35" name="TextBox 34"/>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36" name="TextBox 35"/>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[ 04 / 13 ]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548640"/>
            <a:ext cx="45720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[ 03 ] AWARDS</a:t>
            </a:r>
          </a:p>
        </p:txBody>
      </p:sp>
      <p:sp>
        <p:nvSpPr>
          <p:cNvPr id="3" name="TextBox 2"/>
          <p:cNvSpPr txBox="1"/>
          <p:nvPr/>
        </p:nvSpPr>
        <p:spPr>
          <a:xfrm>
            <a:off x="548640" y="960120"/>
            <a:ext cx="10972800" cy="1188720"/>
          </a:xfrm>
          <a:prstGeom prst="rect">
            <a:avLst/>
          </a:prstGeom>
          <a:noFill/>
        </p:spPr>
        <p:txBody>
          <a:bodyPr wrap="square" lIns="0" rIns="0" tIns="0" bIns="0" anchor="t">
            <a:spAutoFit/>
          </a:bodyPr>
          <a:lstStyle/>
          <a:p>
            <a:pPr algn="l">
              <a:lnSpc>
                <a:spcPct val="100000"/>
              </a:lnSpc>
            </a:pPr>
            <a:r>
              <a:rPr sz="5400" b="1" i="0">
                <a:solidFill>
                  <a:srgbClr val="07080C"/>
                </a:solidFill>
                <a:latin typeface="Space Grotesk"/>
              </a:rPr>
              <a:t>Five-time award winners.</a:t>
            </a:r>
          </a:p>
        </p:txBody>
      </p:sp>
      <p:sp>
        <p:nvSpPr>
          <p:cNvPr id="4" name="Rounded Rectangle 3"/>
          <p:cNvSpPr/>
          <p:nvPr/>
        </p:nvSpPr>
        <p:spPr>
          <a:xfrm>
            <a:off x="335127" y="2606040"/>
            <a:ext cx="2194560" cy="2926080"/>
          </a:xfrm>
          <a:prstGeom prst="roundRect">
            <a:avLst>
              <a:gd name="adj" fmla="val 4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29487" y="3063240"/>
            <a:ext cx="1005840" cy="10058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1180947" y="3314700"/>
            <a:ext cx="502920" cy="50292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8007" y="4160520"/>
            <a:ext cx="1828800" cy="502920"/>
          </a:xfrm>
          <a:prstGeom prst="rect">
            <a:avLst/>
          </a:prstGeom>
          <a:noFill/>
        </p:spPr>
        <p:txBody>
          <a:bodyPr wrap="square" lIns="0" rIns="0" tIns="0" bIns="0" anchor="t">
            <a:spAutoFit/>
          </a:bodyPr>
          <a:lstStyle/>
          <a:p>
            <a:pPr algn="ctr">
              <a:lnSpc>
                <a:spcPct val="120000"/>
              </a:lnSpc>
            </a:pPr>
            <a:r>
              <a:rPr sz="3200" b="1" i="0">
                <a:solidFill>
                  <a:srgbClr val="7C3AED"/>
                </a:solidFill>
                <a:latin typeface="Space Grotesk"/>
              </a:rPr>
              <a:t>2024</a:t>
            </a:r>
          </a:p>
        </p:txBody>
      </p:sp>
      <p:sp>
        <p:nvSpPr>
          <p:cNvPr id="8" name="TextBox 7"/>
          <p:cNvSpPr txBox="1"/>
          <p:nvPr/>
        </p:nvSpPr>
        <p:spPr>
          <a:xfrm>
            <a:off x="518007" y="4663440"/>
            <a:ext cx="1828800" cy="548640"/>
          </a:xfrm>
          <a:prstGeom prst="rect">
            <a:avLst/>
          </a:prstGeom>
          <a:noFill/>
        </p:spPr>
        <p:txBody>
          <a:bodyPr wrap="square" lIns="0" rIns="0" tIns="0" bIns="0" anchor="t">
            <a:spAutoFit/>
          </a:bodyPr>
          <a:lstStyle/>
          <a:p>
            <a:pPr algn="ctr">
              <a:lnSpc>
                <a:spcPct val="120000"/>
              </a:lnSpc>
            </a:pPr>
            <a:r>
              <a:rPr sz="1200" b="1" i="0">
                <a:solidFill>
                  <a:srgbClr val="07080C"/>
                </a:solidFill>
                <a:latin typeface="Inter"/>
              </a:rPr>
              <a:t>Best Web Design Agency</a:t>
            </a:r>
          </a:p>
        </p:txBody>
      </p:sp>
      <p:sp>
        <p:nvSpPr>
          <p:cNvPr id="9" name="TextBox 8"/>
          <p:cNvSpPr txBox="1"/>
          <p:nvPr/>
        </p:nvSpPr>
        <p:spPr>
          <a:xfrm>
            <a:off x="518007" y="5120640"/>
            <a:ext cx="1828800" cy="365760"/>
          </a:xfrm>
          <a:prstGeom prst="rect">
            <a:avLst/>
          </a:prstGeom>
          <a:noFill/>
        </p:spPr>
        <p:txBody>
          <a:bodyPr wrap="square" lIns="0" rIns="0" tIns="0" bIns="0" anchor="t">
            <a:spAutoFit/>
          </a:bodyPr>
          <a:lstStyle/>
          <a:p>
            <a:pPr algn="ctr">
              <a:lnSpc>
                <a:spcPct val="120000"/>
              </a:lnSpc>
            </a:pPr>
            <a:r>
              <a:rPr sz="900" b="0" i="0" spc="200">
                <a:solidFill>
                  <a:srgbClr val="8B94A8"/>
                </a:solidFill>
                <a:latin typeface="JetBrains Mono"/>
              </a:rPr>
              <a:t>SOUTH EAST ENGLAND</a:t>
            </a:r>
          </a:p>
        </p:txBody>
      </p:sp>
      <p:sp>
        <p:nvSpPr>
          <p:cNvPr id="10" name="Rounded Rectangle 9"/>
          <p:cNvSpPr/>
          <p:nvPr/>
        </p:nvSpPr>
        <p:spPr>
          <a:xfrm>
            <a:off x="2666847" y="2606040"/>
            <a:ext cx="2194560" cy="2926080"/>
          </a:xfrm>
          <a:prstGeom prst="roundRect">
            <a:avLst>
              <a:gd name="adj" fmla="val 4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61207" y="3063240"/>
            <a:ext cx="1005840" cy="1005840"/>
          </a:xfrm>
          <a:prstGeom prst="ellipse">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3512667" y="3314700"/>
            <a:ext cx="502920" cy="50292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49727" y="4160520"/>
            <a:ext cx="1828800" cy="502920"/>
          </a:xfrm>
          <a:prstGeom prst="rect">
            <a:avLst/>
          </a:prstGeom>
          <a:noFill/>
        </p:spPr>
        <p:txBody>
          <a:bodyPr wrap="square" lIns="0" rIns="0" tIns="0" bIns="0" anchor="t">
            <a:spAutoFit/>
          </a:bodyPr>
          <a:lstStyle/>
          <a:p>
            <a:pPr algn="ctr">
              <a:lnSpc>
                <a:spcPct val="120000"/>
              </a:lnSpc>
            </a:pPr>
            <a:r>
              <a:rPr sz="3200" b="1" i="0">
                <a:solidFill>
                  <a:srgbClr val="00C9A7"/>
                </a:solidFill>
                <a:latin typeface="Space Grotesk"/>
              </a:rPr>
              <a:t>2024</a:t>
            </a:r>
          </a:p>
        </p:txBody>
      </p:sp>
      <p:sp>
        <p:nvSpPr>
          <p:cNvPr id="14" name="TextBox 13"/>
          <p:cNvSpPr txBox="1"/>
          <p:nvPr/>
        </p:nvSpPr>
        <p:spPr>
          <a:xfrm>
            <a:off x="2849727" y="4663440"/>
            <a:ext cx="1828800" cy="548640"/>
          </a:xfrm>
          <a:prstGeom prst="rect">
            <a:avLst/>
          </a:prstGeom>
          <a:noFill/>
        </p:spPr>
        <p:txBody>
          <a:bodyPr wrap="square" lIns="0" rIns="0" tIns="0" bIns="0" anchor="t">
            <a:spAutoFit/>
          </a:bodyPr>
          <a:lstStyle/>
          <a:p>
            <a:pPr algn="ctr">
              <a:lnSpc>
                <a:spcPct val="120000"/>
              </a:lnSpc>
            </a:pPr>
            <a:r>
              <a:rPr sz="1200" b="1" i="0">
                <a:solidFill>
                  <a:srgbClr val="07080C"/>
                </a:solidFill>
                <a:latin typeface="Inter"/>
              </a:rPr>
              <a:t>Best eCommerce Consultant</a:t>
            </a:r>
          </a:p>
        </p:txBody>
      </p:sp>
      <p:sp>
        <p:nvSpPr>
          <p:cNvPr id="15" name="TextBox 14"/>
          <p:cNvSpPr txBox="1"/>
          <p:nvPr/>
        </p:nvSpPr>
        <p:spPr>
          <a:xfrm>
            <a:off x="2849727" y="5120640"/>
            <a:ext cx="1828800" cy="365760"/>
          </a:xfrm>
          <a:prstGeom prst="rect">
            <a:avLst/>
          </a:prstGeom>
          <a:noFill/>
        </p:spPr>
        <p:txBody>
          <a:bodyPr wrap="square" lIns="0" rIns="0" tIns="0" bIns="0" anchor="t">
            <a:spAutoFit/>
          </a:bodyPr>
          <a:lstStyle/>
          <a:p>
            <a:pPr algn="ctr">
              <a:lnSpc>
                <a:spcPct val="120000"/>
              </a:lnSpc>
            </a:pPr>
            <a:r>
              <a:rPr sz="900" b="0" i="0" spc="200">
                <a:solidFill>
                  <a:srgbClr val="8B94A8"/>
                </a:solidFill>
                <a:latin typeface="JetBrains Mono"/>
              </a:rPr>
              <a:t>SOUTH EAST ENGLAND</a:t>
            </a:r>
          </a:p>
        </p:txBody>
      </p:sp>
      <p:sp>
        <p:nvSpPr>
          <p:cNvPr id="16" name="Rounded Rectangle 15"/>
          <p:cNvSpPr/>
          <p:nvPr/>
        </p:nvSpPr>
        <p:spPr>
          <a:xfrm>
            <a:off x="4998567" y="2606040"/>
            <a:ext cx="2194560" cy="2926080"/>
          </a:xfrm>
          <a:prstGeom prst="roundRect">
            <a:avLst>
              <a:gd name="adj" fmla="val 4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592927" y="3063240"/>
            <a:ext cx="1005840" cy="1005840"/>
          </a:xfrm>
          <a:prstGeom prst="ellipse">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5-Point Star 17"/>
          <p:cNvSpPr/>
          <p:nvPr/>
        </p:nvSpPr>
        <p:spPr>
          <a:xfrm>
            <a:off x="5844387" y="3314700"/>
            <a:ext cx="502920" cy="50292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81447" y="4160520"/>
            <a:ext cx="1828800" cy="502920"/>
          </a:xfrm>
          <a:prstGeom prst="rect">
            <a:avLst/>
          </a:prstGeom>
          <a:noFill/>
        </p:spPr>
        <p:txBody>
          <a:bodyPr wrap="square" lIns="0" rIns="0" tIns="0" bIns="0" anchor="t">
            <a:spAutoFit/>
          </a:bodyPr>
          <a:lstStyle/>
          <a:p>
            <a:pPr algn="ctr">
              <a:lnSpc>
                <a:spcPct val="120000"/>
              </a:lnSpc>
            </a:pPr>
            <a:r>
              <a:rPr sz="3200" b="1" i="0">
                <a:solidFill>
                  <a:srgbClr val="2D8DFF"/>
                </a:solidFill>
                <a:latin typeface="Space Grotesk"/>
              </a:rPr>
              <a:t>2022</a:t>
            </a:r>
          </a:p>
        </p:txBody>
      </p:sp>
      <p:sp>
        <p:nvSpPr>
          <p:cNvPr id="20" name="TextBox 19"/>
          <p:cNvSpPr txBox="1"/>
          <p:nvPr/>
        </p:nvSpPr>
        <p:spPr>
          <a:xfrm>
            <a:off x="5181447" y="4663440"/>
            <a:ext cx="1828800" cy="548640"/>
          </a:xfrm>
          <a:prstGeom prst="rect">
            <a:avLst/>
          </a:prstGeom>
          <a:noFill/>
        </p:spPr>
        <p:txBody>
          <a:bodyPr wrap="square" lIns="0" rIns="0" tIns="0" bIns="0" anchor="t">
            <a:spAutoFit/>
          </a:bodyPr>
          <a:lstStyle/>
          <a:p>
            <a:pPr algn="ctr">
              <a:lnSpc>
                <a:spcPct val="120000"/>
              </a:lnSpc>
            </a:pPr>
            <a:r>
              <a:rPr sz="1200" b="1" i="0">
                <a:solidFill>
                  <a:srgbClr val="07080C"/>
                </a:solidFill>
                <a:latin typeface="Inter"/>
              </a:rPr>
              <a:t>Best Web Design Agency</a:t>
            </a:r>
          </a:p>
        </p:txBody>
      </p:sp>
      <p:sp>
        <p:nvSpPr>
          <p:cNvPr id="21" name="TextBox 20"/>
          <p:cNvSpPr txBox="1"/>
          <p:nvPr/>
        </p:nvSpPr>
        <p:spPr>
          <a:xfrm>
            <a:off x="5181447" y="5120640"/>
            <a:ext cx="1828800" cy="365760"/>
          </a:xfrm>
          <a:prstGeom prst="rect">
            <a:avLst/>
          </a:prstGeom>
          <a:noFill/>
        </p:spPr>
        <p:txBody>
          <a:bodyPr wrap="square" lIns="0" rIns="0" tIns="0" bIns="0" anchor="t">
            <a:spAutoFit/>
          </a:bodyPr>
          <a:lstStyle/>
          <a:p>
            <a:pPr algn="ctr">
              <a:lnSpc>
                <a:spcPct val="120000"/>
              </a:lnSpc>
            </a:pPr>
            <a:r>
              <a:rPr sz="900" b="0" i="0" spc="200">
                <a:solidFill>
                  <a:srgbClr val="8B94A8"/>
                </a:solidFill>
                <a:latin typeface="JetBrains Mono"/>
              </a:rPr>
              <a:t>UNITED KINGDOM</a:t>
            </a:r>
          </a:p>
        </p:txBody>
      </p:sp>
      <p:sp>
        <p:nvSpPr>
          <p:cNvPr id="22" name="Rounded Rectangle 21"/>
          <p:cNvSpPr/>
          <p:nvPr/>
        </p:nvSpPr>
        <p:spPr>
          <a:xfrm>
            <a:off x="7330287" y="2606040"/>
            <a:ext cx="2194560" cy="2926080"/>
          </a:xfrm>
          <a:prstGeom prst="roundRect">
            <a:avLst>
              <a:gd name="adj" fmla="val 4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24647" y="3063240"/>
            <a:ext cx="1005840" cy="1005840"/>
          </a:xfrm>
          <a:prstGeom prst="ellipse">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5-Point Star 23"/>
          <p:cNvSpPr/>
          <p:nvPr/>
        </p:nvSpPr>
        <p:spPr>
          <a:xfrm>
            <a:off x="8176107" y="3314700"/>
            <a:ext cx="502920" cy="50292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13167" y="4160520"/>
            <a:ext cx="1828800" cy="502920"/>
          </a:xfrm>
          <a:prstGeom prst="rect">
            <a:avLst/>
          </a:prstGeom>
          <a:noFill/>
        </p:spPr>
        <p:txBody>
          <a:bodyPr wrap="square" lIns="0" rIns="0" tIns="0" bIns="0" anchor="t">
            <a:spAutoFit/>
          </a:bodyPr>
          <a:lstStyle/>
          <a:p>
            <a:pPr algn="ctr">
              <a:lnSpc>
                <a:spcPct val="120000"/>
              </a:lnSpc>
            </a:pPr>
            <a:r>
              <a:rPr sz="3200" b="1" i="0">
                <a:solidFill>
                  <a:srgbClr val="2D8DFF"/>
                </a:solidFill>
                <a:latin typeface="Space Grotesk"/>
              </a:rPr>
              <a:t>2021</a:t>
            </a:r>
          </a:p>
        </p:txBody>
      </p:sp>
      <p:sp>
        <p:nvSpPr>
          <p:cNvPr id="26" name="TextBox 25"/>
          <p:cNvSpPr txBox="1"/>
          <p:nvPr/>
        </p:nvSpPr>
        <p:spPr>
          <a:xfrm>
            <a:off x="7513167" y="4663440"/>
            <a:ext cx="1828800" cy="548640"/>
          </a:xfrm>
          <a:prstGeom prst="rect">
            <a:avLst/>
          </a:prstGeom>
          <a:noFill/>
        </p:spPr>
        <p:txBody>
          <a:bodyPr wrap="square" lIns="0" rIns="0" tIns="0" bIns="0" anchor="t">
            <a:spAutoFit/>
          </a:bodyPr>
          <a:lstStyle/>
          <a:p>
            <a:pPr algn="ctr">
              <a:lnSpc>
                <a:spcPct val="120000"/>
              </a:lnSpc>
            </a:pPr>
            <a:r>
              <a:rPr sz="1200" b="1" i="0">
                <a:solidFill>
                  <a:srgbClr val="07080C"/>
                </a:solidFill>
                <a:latin typeface="Inter"/>
              </a:rPr>
              <a:t>Best Web Design Agency</a:t>
            </a:r>
          </a:p>
        </p:txBody>
      </p:sp>
      <p:sp>
        <p:nvSpPr>
          <p:cNvPr id="27" name="TextBox 26"/>
          <p:cNvSpPr txBox="1"/>
          <p:nvPr/>
        </p:nvSpPr>
        <p:spPr>
          <a:xfrm>
            <a:off x="7513167" y="5120640"/>
            <a:ext cx="1828800" cy="365760"/>
          </a:xfrm>
          <a:prstGeom prst="rect">
            <a:avLst/>
          </a:prstGeom>
          <a:noFill/>
        </p:spPr>
        <p:txBody>
          <a:bodyPr wrap="square" lIns="0" rIns="0" tIns="0" bIns="0" anchor="t">
            <a:spAutoFit/>
          </a:bodyPr>
          <a:lstStyle/>
          <a:p>
            <a:pPr algn="ctr">
              <a:lnSpc>
                <a:spcPct val="120000"/>
              </a:lnSpc>
            </a:pPr>
            <a:r>
              <a:rPr sz="900" b="0" i="0" spc="200">
                <a:solidFill>
                  <a:srgbClr val="8B94A8"/>
                </a:solidFill>
                <a:latin typeface="JetBrains Mono"/>
              </a:rPr>
              <a:t>SOUTH EAST ENGLAND</a:t>
            </a:r>
          </a:p>
        </p:txBody>
      </p:sp>
      <p:sp>
        <p:nvSpPr>
          <p:cNvPr id="28" name="Rounded Rectangle 27"/>
          <p:cNvSpPr/>
          <p:nvPr/>
        </p:nvSpPr>
        <p:spPr>
          <a:xfrm>
            <a:off x="9662007" y="2606040"/>
            <a:ext cx="2194560" cy="2926080"/>
          </a:xfrm>
          <a:prstGeom prst="roundRect">
            <a:avLst>
              <a:gd name="adj" fmla="val 4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56367" y="3063240"/>
            <a:ext cx="1005840" cy="1005840"/>
          </a:xfrm>
          <a:prstGeom prst="ellipse">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5-Point Star 29"/>
          <p:cNvSpPr/>
          <p:nvPr/>
        </p:nvSpPr>
        <p:spPr>
          <a:xfrm>
            <a:off x="10507827" y="3314700"/>
            <a:ext cx="502920" cy="502920"/>
          </a:xfrm>
          <a:prstGeom prst="star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44887" y="4160520"/>
            <a:ext cx="1828800" cy="502920"/>
          </a:xfrm>
          <a:prstGeom prst="rect">
            <a:avLst/>
          </a:prstGeom>
          <a:noFill/>
        </p:spPr>
        <p:txBody>
          <a:bodyPr wrap="square" lIns="0" rIns="0" tIns="0" bIns="0" anchor="t">
            <a:spAutoFit/>
          </a:bodyPr>
          <a:lstStyle/>
          <a:p>
            <a:pPr algn="ctr">
              <a:lnSpc>
                <a:spcPct val="120000"/>
              </a:lnSpc>
            </a:pPr>
            <a:r>
              <a:rPr sz="3200" b="1" i="0">
                <a:solidFill>
                  <a:srgbClr val="2D8DFF"/>
                </a:solidFill>
                <a:latin typeface="Space Grotesk"/>
              </a:rPr>
              <a:t>2020</a:t>
            </a:r>
          </a:p>
        </p:txBody>
      </p:sp>
      <p:sp>
        <p:nvSpPr>
          <p:cNvPr id="32" name="TextBox 31"/>
          <p:cNvSpPr txBox="1"/>
          <p:nvPr/>
        </p:nvSpPr>
        <p:spPr>
          <a:xfrm>
            <a:off x="9844887" y="4663440"/>
            <a:ext cx="1828800" cy="548640"/>
          </a:xfrm>
          <a:prstGeom prst="rect">
            <a:avLst/>
          </a:prstGeom>
          <a:noFill/>
        </p:spPr>
        <p:txBody>
          <a:bodyPr wrap="square" lIns="0" rIns="0" tIns="0" bIns="0" anchor="t">
            <a:spAutoFit/>
          </a:bodyPr>
          <a:lstStyle/>
          <a:p>
            <a:pPr algn="ctr">
              <a:lnSpc>
                <a:spcPct val="120000"/>
              </a:lnSpc>
            </a:pPr>
            <a:r>
              <a:rPr sz="1200" b="1" i="0">
                <a:solidFill>
                  <a:srgbClr val="07080C"/>
                </a:solidFill>
                <a:latin typeface="Inter"/>
              </a:rPr>
              <a:t>Best Web Design Agency</a:t>
            </a:r>
          </a:p>
        </p:txBody>
      </p:sp>
      <p:sp>
        <p:nvSpPr>
          <p:cNvPr id="33" name="TextBox 32"/>
          <p:cNvSpPr txBox="1"/>
          <p:nvPr/>
        </p:nvSpPr>
        <p:spPr>
          <a:xfrm>
            <a:off x="9844887" y="5120640"/>
            <a:ext cx="1828800" cy="365760"/>
          </a:xfrm>
          <a:prstGeom prst="rect">
            <a:avLst/>
          </a:prstGeom>
          <a:noFill/>
        </p:spPr>
        <p:txBody>
          <a:bodyPr wrap="square" lIns="0" rIns="0" tIns="0" bIns="0" anchor="t">
            <a:spAutoFit/>
          </a:bodyPr>
          <a:lstStyle/>
          <a:p>
            <a:pPr algn="ctr">
              <a:lnSpc>
                <a:spcPct val="120000"/>
              </a:lnSpc>
            </a:pPr>
            <a:r>
              <a:rPr sz="900" b="0" i="0" spc="200">
                <a:solidFill>
                  <a:srgbClr val="8B94A8"/>
                </a:solidFill>
                <a:latin typeface="JetBrains Mono"/>
              </a:rPr>
              <a:t>BERKSHIRE</a:t>
            </a:r>
          </a:p>
        </p:txBody>
      </p:sp>
      <p:sp>
        <p:nvSpPr>
          <p:cNvPr id="34" name="TextBox 33"/>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35" name="TextBox 34"/>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[ 05 / 13 ]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548640" y="2377440"/>
            <a:ext cx="73152" cy="2103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2743200" cy="1097280"/>
          </a:xfrm>
          <a:prstGeom prst="rect">
            <a:avLst/>
          </a:prstGeom>
          <a:noFill/>
        </p:spPr>
        <p:txBody>
          <a:bodyPr wrap="square" lIns="0" rIns="0" tIns="0" bIns="0" anchor="t">
            <a:spAutoFit/>
          </a:bodyPr>
          <a:lstStyle/>
          <a:p>
            <a:pPr algn="l">
              <a:lnSpc>
                <a:spcPct val="90000"/>
              </a:lnSpc>
            </a:pPr>
            <a:r>
              <a:rPr sz="12000" b="1" i="0">
                <a:solidFill>
                  <a:srgbClr val="7C3AED"/>
                </a:solidFill>
                <a:latin typeface="Space Grotesk"/>
              </a:rPr>
              <a:t>02.</a:t>
            </a:r>
          </a:p>
        </p:txBody>
      </p:sp>
      <p:sp>
        <p:nvSpPr>
          <p:cNvPr id="4" name="TextBox 3"/>
          <p:cNvSpPr txBox="1"/>
          <p:nvPr/>
        </p:nvSpPr>
        <p:spPr>
          <a:xfrm>
            <a:off x="868680" y="3566160"/>
            <a:ext cx="10515600" cy="1371600"/>
          </a:xfrm>
          <a:prstGeom prst="rect">
            <a:avLst/>
          </a:prstGeom>
          <a:noFill/>
        </p:spPr>
        <p:txBody>
          <a:bodyPr wrap="square" lIns="0" rIns="0" tIns="0" bIns="0" anchor="t">
            <a:spAutoFit/>
          </a:bodyPr>
          <a:lstStyle/>
          <a:p>
            <a:pPr algn="l">
              <a:lnSpc>
                <a:spcPct val="100000"/>
              </a:lnSpc>
            </a:pPr>
            <a:r>
              <a:rPr sz="6400" b="1" i="0">
                <a:solidFill>
                  <a:srgbClr val="07080C"/>
                </a:solidFill>
                <a:latin typeface="Space Grotesk"/>
              </a:rPr>
              <a:t>Selected work.</a:t>
            </a:r>
          </a:p>
        </p:txBody>
      </p:sp>
      <p:sp>
        <p:nvSpPr>
          <p:cNvPr id="5" name="TextBox 4"/>
          <p:cNvSpPr txBox="1"/>
          <p:nvPr/>
        </p:nvSpPr>
        <p:spPr>
          <a:xfrm>
            <a:off x="868680" y="4709160"/>
            <a:ext cx="9144000" cy="731520"/>
          </a:xfrm>
          <a:prstGeom prst="rect">
            <a:avLst/>
          </a:prstGeom>
          <a:noFill/>
        </p:spPr>
        <p:txBody>
          <a:bodyPr wrap="square" lIns="0" rIns="0" tIns="0" bIns="0" anchor="t">
            <a:spAutoFit/>
          </a:bodyPr>
          <a:lstStyle/>
          <a:p>
            <a:pPr algn="l">
              <a:lnSpc>
                <a:spcPct val="135000"/>
              </a:lnSpc>
            </a:pPr>
            <a:r>
              <a:rPr sz="2000" b="0" i="0">
                <a:solidFill>
                  <a:srgbClr val="525B6E"/>
                </a:solidFill>
                <a:latin typeface="Inter"/>
              </a:rPr>
              <a:t>A few favourites from the last year, same team, same standard.</a:t>
            </a:r>
          </a:p>
        </p:txBody>
      </p:sp>
      <p:sp>
        <p:nvSpPr>
          <p:cNvPr id="6" name="TextBox 5"/>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7" name="TextBox 6"/>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[ 06 / 13 ]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640080"/>
            <a:ext cx="54864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CASE STUDY / 2012 → PRESENT ]</a:t>
            </a:r>
          </a:p>
        </p:txBody>
      </p:sp>
      <p:sp>
        <p:nvSpPr>
          <p:cNvPr id="3" name="TextBox 2"/>
          <p:cNvSpPr txBox="1"/>
          <p:nvPr/>
        </p:nvSpPr>
        <p:spPr>
          <a:xfrm>
            <a:off x="548640" y="1097280"/>
            <a:ext cx="6400800" cy="1097280"/>
          </a:xfrm>
          <a:prstGeom prst="rect">
            <a:avLst/>
          </a:prstGeom>
          <a:noFill/>
        </p:spPr>
        <p:txBody>
          <a:bodyPr wrap="square" lIns="0" rIns="0" tIns="0" bIns="0" anchor="t">
            <a:spAutoFit/>
          </a:bodyPr>
          <a:lstStyle/>
          <a:p>
            <a:pPr algn="l">
              <a:lnSpc>
                <a:spcPct val="100000"/>
              </a:lnSpc>
            </a:pPr>
            <a:r>
              <a:rPr sz="6000" b="1" i="0">
                <a:solidFill>
                  <a:srgbClr val="07080C"/>
                </a:solidFill>
                <a:latin typeface="Space Grotesk"/>
              </a:rPr>
              <a:t>Fun Cases</a:t>
            </a:r>
          </a:p>
        </p:txBody>
      </p:sp>
      <p:sp>
        <p:nvSpPr>
          <p:cNvPr id="4" name="Rounded Rectangle 3"/>
          <p:cNvSpPr/>
          <p:nvPr/>
        </p:nvSpPr>
        <p:spPr>
          <a:xfrm>
            <a:off x="548640" y="2103120"/>
            <a:ext cx="3474720" cy="384048"/>
          </a:xfrm>
          <a:prstGeom prst="roundRect">
            <a:avLst>
              <a:gd name="adj" fmla="val 50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249424"/>
            <a:ext cx="91440" cy="91440"/>
          </a:xfrm>
          <a:prstGeom prst="ellipse">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76272"/>
            <a:ext cx="3108960" cy="246888"/>
          </a:xfrm>
          <a:prstGeom prst="rect">
            <a:avLst/>
          </a:prstGeom>
          <a:noFill/>
        </p:spPr>
        <p:txBody>
          <a:bodyPr wrap="square" lIns="0" rIns="0" tIns="0" bIns="0" anchor="t">
            <a:spAutoFit/>
          </a:bodyPr>
          <a:lstStyle/>
          <a:p>
            <a:pPr algn="l">
              <a:lnSpc>
                <a:spcPct val="120000"/>
              </a:lnSpc>
            </a:pPr>
            <a:r>
              <a:rPr sz="1100" b="0" i="0" spc="100">
                <a:solidFill>
                  <a:srgbClr val="07080C"/>
                </a:solidFill>
                <a:latin typeface="JetBrains Mono"/>
              </a:rPr>
              <a:t>funcases.com</a:t>
            </a:r>
          </a:p>
        </p:txBody>
      </p:sp>
      <p:sp>
        <p:nvSpPr>
          <p:cNvPr id="7" name="TextBox 6"/>
          <p:cNvSpPr txBox="1"/>
          <p:nvPr/>
        </p:nvSpPr>
        <p:spPr>
          <a:xfrm>
            <a:off x="548640" y="2834640"/>
            <a:ext cx="6217920" cy="1828800"/>
          </a:xfrm>
          <a:prstGeom prst="rect">
            <a:avLst/>
          </a:prstGeom>
          <a:noFill/>
        </p:spPr>
        <p:txBody>
          <a:bodyPr wrap="square" lIns="0" rIns="0" tIns="0" bIns="0" anchor="t">
            <a:spAutoFit/>
          </a:bodyPr>
          <a:lstStyle/>
          <a:p>
            <a:pPr algn="l">
              <a:lnSpc>
                <a:spcPct val="135000"/>
              </a:lnSpc>
            </a:pPr>
            <a:r>
              <a:rPr sz="2600" b="0" i="0">
                <a:solidFill>
                  <a:srgbClr val="525B6E"/>
                </a:solidFill>
                <a:latin typeface="Space Grotesk"/>
              </a:rPr>
              <a:t>On-trend phone cases and a tree planted for every order. Our longest-running partnership.</a:t>
            </a:r>
          </a:p>
        </p:txBody>
      </p:sp>
      <p:sp>
        <p:nvSpPr>
          <p:cNvPr id="8" name="TextBox 7"/>
          <p:cNvSpPr txBox="1"/>
          <p:nvPr/>
        </p:nvSpPr>
        <p:spPr>
          <a:xfrm>
            <a:off x="548640" y="5577840"/>
            <a:ext cx="6400800" cy="365760"/>
          </a:xfrm>
          <a:prstGeom prst="rect">
            <a:avLst/>
          </a:prstGeom>
          <a:noFill/>
        </p:spPr>
        <p:txBody>
          <a:bodyPr wrap="square" lIns="0" rIns="0" tIns="0" bIns="0" anchor="t">
            <a:spAutoFit/>
          </a:bodyPr>
          <a:lstStyle/>
          <a:p>
            <a:pPr algn="l">
              <a:lnSpc>
                <a:spcPct val="120000"/>
              </a:lnSpc>
            </a:pPr>
            <a:r>
              <a:rPr sz="900" b="0" i="0" spc="220">
                <a:solidFill>
                  <a:srgbClr val="8B94A8"/>
                </a:solidFill>
                <a:latin typeface="JetBrains Mono"/>
              </a:rPr>
              <a:t>SERVICES</a:t>
            </a:r>
          </a:p>
        </p:txBody>
      </p:sp>
      <p:sp>
        <p:nvSpPr>
          <p:cNvPr id="9" name="TextBox 8"/>
          <p:cNvSpPr txBox="1"/>
          <p:nvPr/>
        </p:nvSpPr>
        <p:spPr>
          <a:xfrm>
            <a:off x="548640" y="5852160"/>
            <a:ext cx="6400800" cy="457200"/>
          </a:xfrm>
          <a:prstGeom prst="rect">
            <a:avLst/>
          </a:prstGeom>
          <a:noFill/>
        </p:spPr>
        <p:txBody>
          <a:bodyPr wrap="square" lIns="0" rIns="0" tIns="0" bIns="0" anchor="t">
            <a:spAutoFit/>
          </a:bodyPr>
          <a:lstStyle/>
          <a:p>
            <a:pPr algn="l">
              <a:lnSpc>
                <a:spcPct val="120000"/>
              </a:lnSpc>
            </a:pPr>
            <a:r>
              <a:rPr sz="1400" b="0" i="0">
                <a:solidFill>
                  <a:srgbClr val="07080C"/>
                </a:solidFill>
                <a:latin typeface="Inter"/>
              </a:rPr>
              <a:t>Shopify build, SEO, marketing, AI support + WMS</a:t>
            </a:r>
          </a:p>
        </p:txBody>
      </p:sp>
      <p:sp>
        <p:nvSpPr>
          <p:cNvPr id="10" name="Rounded Rectangle 9"/>
          <p:cNvSpPr/>
          <p:nvPr/>
        </p:nvSpPr>
        <p:spPr>
          <a:xfrm>
            <a:off x="7040880" y="914400"/>
            <a:ext cx="4663440" cy="5029200"/>
          </a:xfrm>
          <a:prstGeom prst="roundRect">
            <a:avLst>
              <a:gd name="adj" fmla="val 3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un-cases.png"/>
          <p:cNvPicPr>
            <a:picLocks noChangeAspect="1"/>
          </p:cNvPicPr>
          <p:nvPr/>
        </p:nvPicPr>
        <p:blipFill>
          <a:blip r:embed="rId2"/>
          <a:srcRect l="15506" r="15506"/>
          <a:stretch>
            <a:fillRect/>
          </a:stretch>
        </p:blipFill>
        <p:spPr>
          <a:xfrm>
            <a:off x="7150608" y="1024128"/>
            <a:ext cx="4443984" cy="4809744"/>
          </a:xfrm>
          <a:prstGeom prst="rect">
            <a:avLst/>
          </a:prstGeom>
        </p:spPr>
      </p:pic>
      <p:sp>
        <p:nvSpPr>
          <p:cNvPr id="12" name="Rectangle 11"/>
          <p:cNvSpPr/>
          <p:nvPr/>
        </p:nvSpPr>
        <p:spPr>
          <a:xfrm>
            <a:off x="7150608" y="5833872"/>
            <a:ext cx="731520" cy="25400"/>
          </a:xfrm>
          <a:prstGeom prst="rect">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14" name="TextBox 13"/>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[ 07 / 13 ]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640080"/>
            <a:ext cx="5486400" cy="274320"/>
          </a:xfrm>
          <a:prstGeom prst="rect">
            <a:avLst/>
          </a:prstGeom>
          <a:noFill/>
        </p:spPr>
        <p:txBody>
          <a:bodyPr wrap="square" lIns="0" rIns="0" tIns="0" bIns="0" anchor="t">
            <a:spAutoFit/>
          </a:bodyPr>
          <a:lstStyle/>
          <a:p>
            <a:pPr algn="l">
              <a:lnSpc>
                <a:spcPct val="120000"/>
              </a:lnSpc>
            </a:pPr>
            <a:r>
              <a:rPr sz="1000" b="0" i="0" spc="280">
                <a:solidFill>
                  <a:srgbClr val="7C3AED"/>
                </a:solidFill>
                <a:latin typeface="JetBrains Mono"/>
              </a:rPr>
              <a:t>[ CASE STUDY / 2014 → PRESENT ]</a:t>
            </a:r>
          </a:p>
        </p:txBody>
      </p:sp>
      <p:sp>
        <p:nvSpPr>
          <p:cNvPr id="3" name="TextBox 2"/>
          <p:cNvSpPr txBox="1"/>
          <p:nvPr/>
        </p:nvSpPr>
        <p:spPr>
          <a:xfrm>
            <a:off x="548640" y="1097280"/>
            <a:ext cx="6400800" cy="1097280"/>
          </a:xfrm>
          <a:prstGeom prst="rect">
            <a:avLst/>
          </a:prstGeom>
          <a:noFill/>
        </p:spPr>
        <p:txBody>
          <a:bodyPr wrap="square" lIns="0" rIns="0" tIns="0" bIns="0" anchor="t">
            <a:spAutoFit/>
          </a:bodyPr>
          <a:lstStyle/>
          <a:p>
            <a:pPr algn="l">
              <a:lnSpc>
                <a:spcPct val="100000"/>
              </a:lnSpc>
            </a:pPr>
            <a:r>
              <a:rPr sz="6000" b="1" i="0">
                <a:solidFill>
                  <a:srgbClr val="07080C"/>
                </a:solidFill>
                <a:latin typeface="Space Grotesk"/>
              </a:rPr>
              <a:t>Gieves &amp; Hawkes</a:t>
            </a:r>
          </a:p>
        </p:txBody>
      </p:sp>
      <p:sp>
        <p:nvSpPr>
          <p:cNvPr id="4" name="Rounded Rectangle 3"/>
          <p:cNvSpPr/>
          <p:nvPr/>
        </p:nvSpPr>
        <p:spPr>
          <a:xfrm>
            <a:off x="548640" y="2103120"/>
            <a:ext cx="3474720" cy="384048"/>
          </a:xfrm>
          <a:prstGeom prst="roundRect">
            <a:avLst>
              <a:gd name="adj" fmla="val 50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249424"/>
            <a:ext cx="91440" cy="914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76272"/>
            <a:ext cx="3108960" cy="246888"/>
          </a:xfrm>
          <a:prstGeom prst="rect">
            <a:avLst/>
          </a:prstGeom>
          <a:noFill/>
        </p:spPr>
        <p:txBody>
          <a:bodyPr wrap="square" lIns="0" rIns="0" tIns="0" bIns="0" anchor="t">
            <a:spAutoFit/>
          </a:bodyPr>
          <a:lstStyle/>
          <a:p>
            <a:pPr algn="l">
              <a:lnSpc>
                <a:spcPct val="120000"/>
              </a:lnSpc>
            </a:pPr>
            <a:r>
              <a:rPr sz="1100" b="0" i="0" spc="100">
                <a:solidFill>
                  <a:srgbClr val="07080C"/>
                </a:solidFill>
                <a:latin typeface="JetBrains Mono"/>
              </a:rPr>
              <a:t>gievesandhawkes.com</a:t>
            </a:r>
          </a:p>
        </p:txBody>
      </p:sp>
      <p:sp>
        <p:nvSpPr>
          <p:cNvPr id="7" name="TextBox 6"/>
          <p:cNvSpPr txBox="1"/>
          <p:nvPr/>
        </p:nvSpPr>
        <p:spPr>
          <a:xfrm>
            <a:off x="548640" y="2834640"/>
            <a:ext cx="6217920" cy="1828800"/>
          </a:xfrm>
          <a:prstGeom prst="rect">
            <a:avLst/>
          </a:prstGeom>
          <a:noFill/>
        </p:spPr>
        <p:txBody>
          <a:bodyPr wrap="square" lIns="0" rIns="0" tIns="0" bIns="0" anchor="t">
            <a:spAutoFit/>
          </a:bodyPr>
          <a:lstStyle/>
          <a:p>
            <a:pPr algn="l">
              <a:lnSpc>
                <a:spcPct val="135000"/>
              </a:lnSpc>
            </a:pPr>
            <a:r>
              <a:rPr sz="2600" b="0" i="0">
                <a:solidFill>
                  <a:srgbClr val="525B6E"/>
                </a:solidFill>
                <a:latin typeface="Space Grotesk"/>
              </a:rPr>
              <a:t>A ground-up Shopify rebuild for the Savile Row house after the Frasers takeover. #1 on Google UK for 'luxury suit'.</a:t>
            </a:r>
          </a:p>
        </p:txBody>
      </p:sp>
      <p:sp>
        <p:nvSpPr>
          <p:cNvPr id="8" name="TextBox 7"/>
          <p:cNvSpPr txBox="1"/>
          <p:nvPr/>
        </p:nvSpPr>
        <p:spPr>
          <a:xfrm>
            <a:off x="548640" y="5577840"/>
            <a:ext cx="6400800" cy="365760"/>
          </a:xfrm>
          <a:prstGeom prst="rect">
            <a:avLst/>
          </a:prstGeom>
          <a:noFill/>
        </p:spPr>
        <p:txBody>
          <a:bodyPr wrap="square" lIns="0" rIns="0" tIns="0" bIns="0" anchor="t">
            <a:spAutoFit/>
          </a:bodyPr>
          <a:lstStyle/>
          <a:p>
            <a:pPr algn="l">
              <a:lnSpc>
                <a:spcPct val="120000"/>
              </a:lnSpc>
            </a:pPr>
            <a:r>
              <a:rPr sz="900" b="0" i="0" spc="220">
                <a:solidFill>
                  <a:srgbClr val="8B94A8"/>
                </a:solidFill>
                <a:latin typeface="JetBrains Mono"/>
              </a:rPr>
              <a:t>SERVICES</a:t>
            </a:r>
          </a:p>
        </p:txBody>
      </p:sp>
      <p:sp>
        <p:nvSpPr>
          <p:cNvPr id="9" name="TextBox 8"/>
          <p:cNvSpPr txBox="1"/>
          <p:nvPr/>
        </p:nvSpPr>
        <p:spPr>
          <a:xfrm>
            <a:off x="548640" y="5852160"/>
            <a:ext cx="6400800" cy="457200"/>
          </a:xfrm>
          <a:prstGeom prst="rect">
            <a:avLst/>
          </a:prstGeom>
          <a:noFill/>
        </p:spPr>
        <p:txBody>
          <a:bodyPr wrap="square" lIns="0" rIns="0" tIns="0" bIns="0" anchor="t">
            <a:spAutoFit/>
          </a:bodyPr>
          <a:lstStyle/>
          <a:p>
            <a:pPr algn="l">
              <a:lnSpc>
                <a:spcPct val="120000"/>
              </a:lnSpc>
            </a:pPr>
            <a:r>
              <a:rPr sz="1400" b="0" i="0">
                <a:solidFill>
                  <a:srgbClr val="07080C"/>
                </a:solidFill>
                <a:latin typeface="Inter"/>
              </a:rPr>
              <a:t>Shopify build, eCommerce consultancy, SEO, email marketing</a:t>
            </a:r>
          </a:p>
        </p:txBody>
      </p:sp>
      <p:sp>
        <p:nvSpPr>
          <p:cNvPr id="10" name="Rounded Rectangle 9"/>
          <p:cNvSpPr/>
          <p:nvPr/>
        </p:nvSpPr>
        <p:spPr>
          <a:xfrm>
            <a:off x="7040880" y="914400"/>
            <a:ext cx="4663440" cy="5029200"/>
          </a:xfrm>
          <a:prstGeom prst="roundRect">
            <a:avLst>
              <a:gd name="adj" fmla="val 3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ieves-hawkes.jpg"/>
          <p:cNvPicPr>
            <a:picLocks noChangeAspect="1"/>
          </p:cNvPicPr>
          <p:nvPr/>
        </p:nvPicPr>
        <p:blipFill>
          <a:blip r:embed="rId2"/>
          <a:srcRect l="17325" r="17325"/>
          <a:stretch>
            <a:fillRect/>
          </a:stretch>
        </p:blipFill>
        <p:spPr>
          <a:xfrm>
            <a:off x="7150608" y="1024128"/>
            <a:ext cx="4443984" cy="4809744"/>
          </a:xfrm>
          <a:prstGeom prst="rect">
            <a:avLst/>
          </a:prstGeom>
        </p:spPr>
      </p:pic>
      <p:sp>
        <p:nvSpPr>
          <p:cNvPr id="12" name="Rectangle 11"/>
          <p:cNvSpPr/>
          <p:nvPr/>
        </p:nvSpPr>
        <p:spPr>
          <a:xfrm>
            <a:off x="7150608" y="5833872"/>
            <a:ext cx="731520" cy="25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14" name="TextBox 13"/>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[ 08 / 13 ]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640080"/>
            <a:ext cx="5486400" cy="274320"/>
          </a:xfrm>
          <a:prstGeom prst="rect">
            <a:avLst/>
          </a:prstGeom>
          <a:noFill/>
        </p:spPr>
        <p:txBody>
          <a:bodyPr wrap="square" lIns="0" rIns="0" tIns="0" bIns="0" anchor="t">
            <a:spAutoFit/>
          </a:bodyPr>
          <a:lstStyle/>
          <a:p>
            <a:pPr algn="l">
              <a:lnSpc>
                <a:spcPct val="120000"/>
              </a:lnSpc>
            </a:pPr>
            <a:r>
              <a:rPr sz="1000" b="0" i="0" spc="280">
                <a:solidFill>
                  <a:srgbClr val="00C9A7"/>
                </a:solidFill>
                <a:latin typeface="JetBrains Mono"/>
              </a:rPr>
              <a:t>[ CASE STUDY / 2023 → PRESENT ]</a:t>
            </a:r>
          </a:p>
        </p:txBody>
      </p:sp>
      <p:sp>
        <p:nvSpPr>
          <p:cNvPr id="3" name="TextBox 2"/>
          <p:cNvSpPr txBox="1"/>
          <p:nvPr/>
        </p:nvSpPr>
        <p:spPr>
          <a:xfrm>
            <a:off x="548640" y="1097280"/>
            <a:ext cx="6400800" cy="1097280"/>
          </a:xfrm>
          <a:prstGeom prst="rect">
            <a:avLst/>
          </a:prstGeom>
          <a:noFill/>
        </p:spPr>
        <p:txBody>
          <a:bodyPr wrap="square" lIns="0" rIns="0" tIns="0" bIns="0" anchor="t">
            <a:spAutoFit/>
          </a:bodyPr>
          <a:lstStyle/>
          <a:p>
            <a:pPr algn="l">
              <a:lnSpc>
                <a:spcPct val="100000"/>
              </a:lnSpc>
            </a:pPr>
            <a:r>
              <a:rPr sz="6000" b="1" i="0">
                <a:solidFill>
                  <a:srgbClr val="07080C"/>
                </a:solidFill>
                <a:latin typeface="Space Grotesk"/>
              </a:rPr>
              <a:t>Sublishop</a:t>
            </a:r>
          </a:p>
        </p:txBody>
      </p:sp>
      <p:sp>
        <p:nvSpPr>
          <p:cNvPr id="4" name="Rounded Rectangle 3"/>
          <p:cNvSpPr/>
          <p:nvPr/>
        </p:nvSpPr>
        <p:spPr>
          <a:xfrm>
            <a:off x="548640" y="2103120"/>
            <a:ext cx="3474720" cy="384048"/>
          </a:xfrm>
          <a:prstGeom prst="roundRect">
            <a:avLst>
              <a:gd name="adj" fmla="val 50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249424"/>
            <a:ext cx="91440" cy="91440"/>
          </a:xfrm>
          <a:prstGeom prst="ellipse">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76272"/>
            <a:ext cx="3108960" cy="246888"/>
          </a:xfrm>
          <a:prstGeom prst="rect">
            <a:avLst/>
          </a:prstGeom>
          <a:noFill/>
        </p:spPr>
        <p:txBody>
          <a:bodyPr wrap="square" lIns="0" rIns="0" tIns="0" bIns="0" anchor="t">
            <a:spAutoFit/>
          </a:bodyPr>
          <a:lstStyle/>
          <a:p>
            <a:pPr algn="l">
              <a:lnSpc>
                <a:spcPct val="120000"/>
              </a:lnSpc>
            </a:pPr>
            <a:r>
              <a:rPr sz="1100" b="0" i="0" spc="100">
                <a:solidFill>
                  <a:srgbClr val="07080C"/>
                </a:solidFill>
                <a:latin typeface="JetBrains Mono"/>
              </a:rPr>
              <a:t>sublishop.co.uk</a:t>
            </a:r>
          </a:p>
        </p:txBody>
      </p:sp>
      <p:sp>
        <p:nvSpPr>
          <p:cNvPr id="7" name="TextBox 6"/>
          <p:cNvSpPr txBox="1"/>
          <p:nvPr/>
        </p:nvSpPr>
        <p:spPr>
          <a:xfrm>
            <a:off x="548640" y="2834640"/>
            <a:ext cx="6217920" cy="1828800"/>
          </a:xfrm>
          <a:prstGeom prst="rect">
            <a:avLst/>
          </a:prstGeom>
          <a:noFill/>
        </p:spPr>
        <p:txBody>
          <a:bodyPr wrap="square" lIns="0" rIns="0" tIns="0" bIns="0" anchor="t">
            <a:spAutoFit/>
          </a:bodyPr>
          <a:lstStyle/>
          <a:p>
            <a:pPr algn="l">
              <a:lnSpc>
                <a:spcPct val="135000"/>
              </a:lnSpc>
            </a:pPr>
            <a:r>
              <a:rPr sz="2600" b="0" i="0">
                <a:solidFill>
                  <a:srgbClr val="525B6E"/>
                </a:solidFill>
                <a:latin typeface="Space Grotesk"/>
              </a:rPr>
              <a:t>Sublimation supplies with a custom AI competitor tracker and inventory planner sitting on top of the store.</a:t>
            </a:r>
          </a:p>
        </p:txBody>
      </p:sp>
      <p:sp>
        <p:nvSpPr>
          <p:cNvPr id="8" name="TextBox 7"/>
          <p:cNvSpPr txBox="1"/>
          <p:nvPr/>
        </p:nvSpPr>
        <p:spPr>
          <a:xfrm>
            <a:off x="548640" y="5577840"/>
            <a:ext cx="6400800" cy="365760"/>
          </a:xfrm>
          <a:prstGeom prst="rect">
            <a:avLst/>
          </a:prstGeom>
          <a:noFill/>
        </p:spPr>
        <p:txBody>
          <a:bodyPr wrap="square" lIns="0" rIns="0" tIns="0" bIns="0" anchor="t">
            <a:spAutoFit/>
          </a:bodyPr>
          <a:lstStyle/>
          <a:p>
            <a:pPr algn="l">
              <a:lnSpc>
                <a:spcPct val="120000"/>
              </a:lnSpc>
            </a:pPr>
            <a:r>
              <a:rPr sz="900" b="0" i="0" spc="220">
                <a:solidFill>
                  <a:srgbClr val="8B94A8"/>
                </a:solidFill>
                <a:latin typeface="JetBrains Mono"/>
              </a:rPr>
              <a:t>SERVICES</a:t>
            </a:r>
          </a:p>
        </p:txBody>
      </p:sp>
      <p:sp>
        <p:nvSpPr>
          <p:cNvPr id="9" name="TextBox 8"/>
          <p:cNvSpPr txBox="1"/>
          <p:nvPr/>
        </p:nvSpPr>
        <p:spPr>
          <a:xfrm>
            <a:off x="548640" y="5852160"/>
            <a:ext cx="6400800" cy="457200"/>
          </a:xfrm>
          <a:prstGeom prst="rect">
            <a:avLst/>
          </a:prstGeom>
          <a:noFill/>
        </p:spPr>
        <p:txBody>
          <a:bodyPr wrap="square" lIns="0" rIns="0" tIns="0" bIns="0" anchor="t">
            <a:spAutoFit/>
          </a:bodyPr>
          <a:lstStyle/>
          <a:p>
            <a:pPr algn="l">
              <a:lnSpc>
                <a:spcPct val="120000"/>
              </a:lnSpc>
            </a:pPr>
            <a:r>
              <a:rPr sz="1400" b="0" i="0">
                <a:solidFill>
                  <a:srgbClr val="07080C"/>
                </a:solidFill>
                <a:latin typeface="Inter"/>
              </a:rPr>
              <a:t>Shopify, custom AI tools, competitor tracker, inventory planner</a:t>
            </a:r>
          </a:p>
        </p:txBody>
      </p:sp>
      <p:sp>
        <p:nvSpPr>
          <p:cNvPr id="10" name="Rounded Rectangle 9"/>
          <p:cNvSpPr/>
          <p:nvPr/>
        </p:nvSpPr>
        <p:spPr>
          <a:xfrm>
            <a:off x="7040880" y="914400"/>
            <a:ext cx="4663440" cy="5029200"/>
          </a:xfrm>
          <a:prstGeom prst="roundRect">
            <a:avLst>
              <a:gd name="adj" fmla="val 3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ublishop-pptx.jpg"/>
          <p:cNvPicPr>
            <a:picLocks noChangeAspect="1"/>
          </p:cNvPicPr>
          <p:nvPr/>
        </p:nvPicPr>
        <p:blipFill>
          <a:blip r:embed="rId2"/>
          <a:srcRect l="24220" r="24220"/>
          <a:stretch>
            <a:fillRect/>
          </a:stretch>
        </p:blipFill>
        <p:spPr>
          <a:xfrm>
            <a:off x="7150608" y="1024128"/>
            <a:ext cx="4443984" cy="4809744"/>
          </a:xfrm>
          <a:prstGeom prst="rect">
            <a:avLst/>
          </a:prstGeom>
        </p:spPr>
      </p:pic>
      <p:sp>
        <p:nvSpPr>
          <p:cNvPr id="12" name="Rectangle 11"/>
          <p:cNvSpPr/>
          <p:nvPr/>
        </p:nvSpPr>
        <p:spPr>
          <a:xfrm>
            <a:off x="7150608" y="5833872"/>
            <a:ext cx="731520" cy="254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14" name="TextBox 13"/>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[ 09 / 13 ]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Rectangle 1"/>
          <p:cNvSpPr/>
          <p:nvPr/>
        </p:nvSpPr>
        <p:spPr>
          <a:xfrm>
            <a:off x="548640" y="2377440"/>
            <a:ext cx="73152" cy="2103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2743200" cy="1097280"/>
          </a:xfrm>
          <a:prstGeom prst="rect">
            <a:avLst/>
          </a:prstGeom>
          <a:noFill/>
        </p:spPr>
        <p:txBody>
          <a:bodyPr wrap="square" lIns="0" rIns="0" tIns="0" bIns="0" anchor="t">
            <a:spAutoFit/>
          </a:bodyPr>
          <a:lstStyle/>
          <a:p>
            <a:pPr algn="l">
              <a:lnSpc>
                <a:spcPct val="90000"/>
              </a:lnSpc>
            </a:pPr>
            <a:r>
              <a:rPr sz="12000" b="1" i="0">
                <a:solidFill>
                  <a:srgbClr val="00C9A7"/>
                </a:solidFill>
                <a:latin typeface="Space Grotesk"/>
              </a:rPr>
              <a:t>03.</a:t>
            </a:r>
          </a:p>
        </p:txBody>
      </p:sp>
      <p:sp>
        <p:nvSpPr>
          <p:cNvPr id="4" name="TextBox 3"/>
          <p:cNvSpPr txBox="1"/>
          <p:nvPr/>
        </p:nvSpPr>
        <p:spPr>
          <a:xfrm>
            <a:off x="868680" y="3566160"/>
            <a:ext cx="10515600" cy="1371600"/>
          </a:xfrm>
          <a:prstGeom prst="rect">
            <a:avLst/>
          </a:prstGeom>
          <a:noFill/>
        </p:spPr>
        <p:txBody>
          <a:bodyPr wrap="square" lIns="0" rIns="0" tIns="0" bIns="0" anchor="t">
            <a:spAutoFit/>
          </a:bodyPr>
          <a:lstStyle/>
          <a:p>
            <a:pPr algn="l">
              <a:lnSpc>
                <a:spcPct val="100000"/>
              </a:lnSpc>
            </a:pPr>
            <a:r>
              <a:rPr sz="6400" b="1" i="0">
                <a:solidFill>
                  <a:srgbClr val="07080C"/>
                </a:solidFill>
                <a:latin typeface="Space Grotesk"/>
              </a:rPr>
              <a:t>What we'll do for you.</a:t>
            </a:r>
          </a:p>
        </p:txBody>
      </p:sp>
      <p:sp>
        <p:nvSpPr>
          <p:cNvPr id="5" name="TextBox 4"/>
          <p:cNvSpPr txBox="1"/>
          <p:nvPr/>
        </p:nvSpPr>
        <p:spPr>
          <a:xfrm>
            <a:off x="868680" y="4709160"/>
            <a:ext cx="9144000" cy="731520"/>
          </a:xfrm>
          <a:prstGeom prst="rect">
            <a:avLst/>
          </a:prstGeom>
          <a:noFill/>
        </p:spPr>
        <p:txBody>
          <a:bodyPr wrap="square" lIns="0" rIns="0" tIns="0" bIns="0" anchor="t">
            <a:spAutoFit/>
          </a:bodyPr>
          <a:lstStyle/>
          <a:p>
            <a:pPr algn="l">
              <a:lnSpc>
                <a:spcPct val="135000"/>
              </a:lnSpc>
            </a:pPr>
            <a:r>
              <a:rPr sz="2000" b="0" i="0">
                <a:solidFill>
                  <a:srgbClr val="525B6E"/>
                </a:solidFill>
                <a:latin typeface="Inter"/>
              </a:rPr>
              <a:t>From Are You Fleur Real's brief, translated into scope and price.</a:t>
            </a:r>
          </a:p>
        </p:txBody>
      </p:sp>
      <p:sp>
        <p:nvSpPr>
          <p:cNvPr id="6" name="TextBox 5"/>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7" name="TextBox 6"/>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[ 10 / 13 ]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548640"/>
            <a:ext cx="45720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SCOPE ] WHAT YOU GET</a:t>
            </a:r>
          </a:p>
        </p:txBody>
      </p:sp>
      <p:sp>
        <p:nvSpPr>
          <p:cNvPr id="3" name="TextBox 2"/>
          <p:cNvSpPr txBox="1"/>
          <p:nvPr/>
        </p:nvSpPr>
        <p:spPr>
          <a:xfrm>
            <a:off x="548640" y="960120"/>
            <a:ext cx="10972800" cy="1188720"/>
          </a:xfrm>
          <a:prstGeom prst="rect">
            <a:avLst/>
          </a:prstGeom>
          <a:noFill/>
        </p:spPr>
        <p:txBody>
          <a:bodyPr wrap="square" lIns="0" rIns="0" tIns="0" bIns="0" anchor="t">
            <a:spAutoFit/>
          </a:bodyPr>
          <a:lstStyle/>
          <a:p>
            <a:pPr algn="l">
              <a:lnSpc>
                <a:spcPct val="100000"/>
              </a:lnSpc>
            </a:pPr>
            <a:r>
              <a:rPr sz="5400" b="1" i="0">
                <a:solidFill>
                  <a:srgbClr val="07080C"/>
                </a:solidFill>
                <a:latin typeface="Space Grotesk"/>
              </a:rPr>
              <a:t>Three lines of delivery.</a:t>
            </a:r>
          </a:p>
        </p:txBody>
      </p:sp>
      <p:sp>
        <p:nvSpPr>
          <p:cNvPr id="4" name="Rounded Rectangle 3"/>
          <p:cNvSpPr/>
          <p:nvPr/>
        </p:nvSpPr>
        <p:spPr>
          <a:xfrm>
            <a:off x="548640" y="2468880"/>
            <a:ext cx="11091672" cy="1234440"/>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468880"/>
            <a:ext cx="73152" cy="1234440"/>
          </a:xfrm>
          <a:prstGeom prst="rect">
            <a:avLst/>
          </a:prstGeom>
          <a:solidFill>
            <a:srgbClr val="2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88920"/>
            <a:ext cx="548640" cy="365760"/>
          </a:xfrm>
          <a:prstGeom prst="rect">
            <a:avLst/>
          </a:prstGeom>
          <a:noFill/>
        </p:spPr>
        <p:txBody>
          <a:bodyPr wrap="square" lIns="0" rIns="0" tIns="0" bIns="0" anchor="t">
            <a:spAutoFit/>
          </a:bodyPr>
          <a:lstStyle/>
          <a:p>
            <a:pPr algn="l">
              <a:lnSpc>
                <a:spcPct val="120000"/>
              </a:lnSpc>
            </a:pPr>
            <a:r>
              <a:rPr sz="1100" b="0" i="0" spc="200">
                <a:solidFill>
                  <a:srgbClr val="2D8DFF"/>
                </a:solidFill>
                <a:latin typeface="JetBrains Mono"/>
              </a:rPr>
              <a:t>01</a:t>
            </a:r>
          </a:p>
        </p:txBody>
      </p:sp>
      <p:sp>
        <p:nvSpPr>
          <p:cNvPr id="7" name="TextBox 6"/>
          <p:cNvSpPr txBox="1"/>
          <p:nvPr/>
        </p:nvSpPr>
        <p:spPr>
          <a:xfrm>
            <a:off x="1645920" y="2697480"/>
            <a:ext cx="4114800" cy="548640"/>
          </a:xfrm>
          <a:prstGeom prst="rect">
            <a:avLst/>
          </a:prstGeom>
          <a:noFill/>
        </p:spPr>
        <p:txBody>
          <a:bodyPr wrap="square" lIns="0" rIns="0" tIns="0" bIns="0" anchor="t">
            <a:spAutoFit/>
          </a:bodyPr>
          <a:lstStyle/>
          <a:p>
            <a:pPr algn="l">
              <a:lnSpc>
                <a:spcPct val="120000"/>
              </a:lnSpc>
            </a:pPr>
            <a:r>
              <a:rPr sz="2200" b="1" i="0">
                <a:solidFill>
                  <a:srgbClr val="07080C"/>
                </a:solidFill>
                <a:latin typeface="Space Grotesk"/>
              </a:rPr>
              <a:t>Design &amp; build</a:t>
            </a:r>
          </a:p>
        </p:txBody>
      </p:sp>
      <p:sp>
        <p:nvSpPr>
          <p:cNvPr id="8" name="TextBox 7"/>
          <p:cNvSpPr txBox="1"/>
          <p:nvPr/>
        </p:nvSpPr>
        <p:spPr>
          <a:xfrm>
            <a:off x="5943600" y="2743200"/>
            <a:ext cx="5669280" cy="914400"/>
          </a:xfrm>
          <a:prstGeom prst="rect">
            <a:avLst/>
          </a:prstGeom>
          <a:noFill/>
        </p:spPr>
        <p:txBody>
          <a:bodyPr wrap="square" lIns="0" rIns="0" tIns="0" bIns="0" anchor="t">
            <a:spAutoFit/>
          </a:bodyPr>
          <a:lstStyle/>
          <a:p>
            <a:pPr algn="l">
              <a:lnSpc>
                <a:spcPct val="140000"/>
              </a:lnSpc>
            </a:pPr>
            <a:r>
              <a:rPr sz="1300" b="0" i="0">
                <a:solidFill>
                  <a:srgbClr val="525B6E"/>
                </a:solidFill>
                <a:latin typeface="Inter"/>
              </a:rPr>
              <a:t>A bespoke Shopify 2.0 theme, hand-built from scratch. No templates, no compromises. Every section made to match the quality of the product.</a:t>
            </a:r>
          </a:p>
        </p:txBody>
      </p:sp>
      <p:sp>
        <p:nvSpPr>
          <p:cNvPr id="9" name="Rounded Rectangle 8"/>
          <p:cNvSpPr/>
          <p:nvPr/>
        </p:nvSpPr>
        <p:spPr>
          <a:xfrm>
            <a:off x="548640" y="3840480"/>
            <a:ext cx="11091672" cy="1234440"/>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840480"/>
            <a:ext cx="73152"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60520"/>
            <a:ext cx="548640" cy="365760"/>
          </a:xfrm>
          <a:prstGeom prst="rect">
            <a:avLst/>
          </a:prstGeom>
          <a:noFill/>
        </p:spPr>
        <p:txBody>
          <a:bodyPr wrap="square" lIns="0" rIns="0" tIns="0" bIns="0" anchor="t">
            <a:spAutoFit/>
          </a:bodyPr>
          <a:lstStyle/>
          <a:p>
            <a:pPr algn="l">
              <a:lnSpc>
                <a:spcPct val="120000"/>
              </a:lnSpc>
            </a:pPr>
            <a:r>
              <a:rPr sz="1100" b="0" i="0" spc="200">
                <a:solidFill>
                  <a:srgbClr val="7C3AED"/>
                </a:solidFill>
                <a:latin typeface="JetBrains Mono"/>
              </a:rPr>
              <a:t>02</a:t>
            </a:r>
          </a:p>
        </p:txBody>
      </p:sp>
      <p:sp>
        <p:nvSpPr>
          <p:cNvPr id="12" name="TextBox 11"/>
          <p:cNvSpPr txBox="1"/>
          <p:nvPr/>
        </p:nvSpPr>
        <p:spPr>
          <a:xfrm>
            <a:off x="1645920" y="4069080"/>
            <a:ext cx="4114800" cy="548640"/>
          </a:xfrm>
          <a:prstGeom prst="rect">
            <a:avLst/>
          </a:prstGeom>
          <a:noFill/>
        </p:spPr>
        <p:txBody>
          <a:bodyPr wrap="square" lIns="0" rIns="0" tIns="0" bIns="0" anchor="t">
            <a:spAutoFit/>
          </a:bodyPr>
          <a:lstStyle/>
          <a:p>
            <a:pPr algn="l">
              <a:lnSpc>
                <a:spcPct val="120000"/>
              </a:lnSpc>
            </a:pPr>
            <a:r>
              <a:rPr sz="2200" b="1" i="0">
                <a:solidFill>
                  <a:srgbClr val="07080C"/>
                </a:solidFill>
                <a:latin typeface="Space Grotesk"/>
              </a:rPr>
              <a:t>Future-proof foundations</a:t>
            </a:r>
          </a:p>
        </p:txBody>
      </p:sp>
      <p:sp>
        <p:nvSpPr>
          <p:cNvPr id="13" name="TextBox 12"/>
          <p:cNvSpPr txBox="1"/>
          <p:nvPr/>
        </p:nvSpPr>
        <p:spPr>
          <a:xfrm>
            <a:off x="5943600" y="4114800"/>
            <a:ext cx="5669280" cy="914400"/>
          </a:xfrm>
          <a:prstGeom prst="rect">
            <a:avLst/>
          </a:prstGeom>
          <a:noFill/>
        </p:spPr>
        <p:txBody>
          <a:bodyPr wrap="square" lIns="0" rIns="0" tIns="0" bIns="0" anchor="t">
            <a:spAutoFit/>
          </a:bodyPr>
          <a:lstStyle/>
          <a:p>
            <a:pPr algn="l">
              <a:lnSpc>
                <a:spcPct val="140000"/>
              </a:lnSpc>
            </a:pPr>
            <a:r>
              <a:rPr sz="1300" b="0" i="0">
                <a:solidFill>
                  <a:srgbClr val="525B6E"/>
                </a:solidFill>
                <a:latin typeface="Inter"/>
              </a:rPr>
              <a:t>Editable sections, fast by default, and built on Shopify's latest architecture, so the store ages well as the platform evolves.</a:t>
            </a:r>
          </a:p>
        </p:txBody>
      </p:sp>
      <p:sp>
        <p:nvSpPr>
          <p:cNvPr id="14" name="Rounded Rectangle 13"/>
          <p:cNvSpPr/>
          <p:nvPr/>
        </p:nvSpPr>
        <p:spPr>
          <a:xfrm>
            <a:off x="548640" y="5212080"/>
            <a:ext cx="11091672" cy="1234440"/>
          </a:xfrm>
          <a:prstGeom prst="roundRect">
            <a:avLst>
              <a:gd name="adj" fmla="val 6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212080"/>
            <a:ext cx="73152" cy="1234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532120"/>
            <a:ext cx="548640" cy="365760"/>
          </a:xfrm>
          <a:prstGeom prst="rect">
            <a:avLst/>
          </a:prstGeom>
          <a:noFill/>
        </p:spPr>
        <p:txBody>
          <a:bodyPr wrap="square" lIns="0" rIns="0" tIns="0" bIns="0" anchor="t">
            <a:spAutoFit/>
          </a:bodyPr>
          <a:lstStyle/>
          <a:p>
            <a:pPr algn="l">
              <a:lnSpc>
                <a:spcPct val="120000"/>
              </a:lnSpc>
            </a:pPr>
            <a:r>
              <a:rPr sz="1100" b="0" i="0" spc="200">
                <a:solidFill>
                  <a:srgbClr val="00C9A7"/>
                </a:solidFill>
                <a:latin typeface="JetBrains Mono"/>
              </a:rPr>
              <a:t>03</a:t>
            </a:r>
          </a:p>
        </p:txBody>
      </p:sp>
      <p:sp>
        <p:nvSpPr>
          <p:cNvPr id="17" name="TextBox 16"/>
          <p:cNvSpPr txBox="1"/>
          <p:nvPr/>
        </p:nvSpPr>
        <p:spPr>
          <a:xfrm>
            <a:off x="1645920" y="5440680"/>
            <a:ext cx="4114800" cy="548640"/>
          </a:xfrm>
          <a:prstGeom prst="rect">
            <a:avLst/>
          </a:prstGeom>
          <a:noFill/>
        </p:spPr>
        <p:txBody>
          <a:bodyPr wrap="square" lIns="0" rIns="0" tIns="0" bIns="0" anchor="t">
            <a:spAutoFit/>
          </a:bodyPr>
          <a:lstStyle/>
          <a:p>
            <a:pPr algn="l">
              <a:lnSpc>
                <a:spcPct val="120000"/>
              </a:lnSpc>
            </a:pPr>
            <a:r>
              <a:rPr sz="2200" b="1" i="0">
                <a:solidFill>
                  <a:srgbClr val="07080C"/>
                </a:solidFill>
                <a:latin typeface="Space Grotesk"/>
              </a:rPr>
              <a:t>Ongoing consultancy &amp; marketing</a:t>
            </a:r>
          </a:p>
        </p:txBody>
      </p:sp>
      <p:sp>
        <p:nvSpPr>
          <p:cNvPr id="18" name="TextBox 17"/>
          <p:cNvSpPr txBox="1"/>
          <p:nvPr/>
        </p:nvSpPr>
        <p:spPr>
          <a:xfrm>
            <a:off x="5943600" y="5486400"/>
            <a:ext cx="5669280" cy="914400"/>
          </a:xfrm>
          <a:prstGeom prst="rect">
            <a:avLst/>
          </a:prstGeom>
          <a:noFill/>
        </p:spPr>
        <p:txBody>
          <a:bodyPr wrap="square" lIns="0" rIns="0" tIns="0" bIns="0" anchor="t">
            <a:spAutoFit/>
          </a:bodyPr>
          <a:lstStyle/>
          <a:p>
            <a:pPr algn="l">
              <a:lnSpc>
                <a:spcPct val="140000"/>
              </a:lnSpc>
            </a:pPr>
            <a:r>
              <a:rPr sz="1300" b="0" i="0">
                <a:solidFill>
                  <a:srgbClr val="525B6E"/>
                </a:solidFill>
                <a:latin typeface="Inter"/>
              </a:rPr>
              <a:t>Day-rate consultancy and marketing when you need it. Email, SEO, launch planning, creative updates, strategic calls. No lock-in retainer.</a:t>
            </a:r>
          </a:p>
        </p:txBody>
      </p:sp>
      <p:sp>
        <p:nvSpPr>
          <p:cNvPr id="19" name="TextBox 18"/>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20" name="TextBox 19"/>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[ 11 / 13 ]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548640"/>
            <a:ext cx="45720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INVESTMENT ] FOR ARE YOU FLEUR REAL</a:t>
            </a:r>
          </a:p>
        </p:txBody>
      </p:sp>
      <p:sp>
        <p:nvSpPr>
          <p:cNvPr id="3" name="TextBox 2"/>
          <p:cNvSpPr txBox="1"/>
          <p:nvPr/>
        </p:nvSpPr>
        <p:spPr>
          <a:xfrm>
            <a:off x="548640" y="960120"/>
            <a:ext cx="10972800" cy="914400"/>
          </a:xfrm>
          <a:prstGeom prst="rect">
            <a:avLst/>
          </a:prstGeom>
          <a:noFill/>
        </p:spPr>
        <p:txBody>
          <a:bodyPr wrap="square" lIns="0" rIns="0" tIns="0" bIns="0" anchor="t">
            <a:spAutoFit/>
          </a:bodyPr>
          <a:lstStyle/>
          <a:p>
            <a:pPr algn="l">
              <a:lnSpc>
                <a:spcPct val="120000"/>
              </a:lnSpc>
            </a:pPr>
            <a:r>
              <a:rPr sz="4600" b="1" i="0">
                <a:solidFill>
                  <a:srgbClr val="07080C"/>
                </a:solidFill>
                <a:latin typeface="Space Grotesk"/>
              </a:rPr>
              <a:t>The numbers.</a:t>
            </a:r>
          </a:p>
        </p:txBody>
      </p:sp>
      <p:sp>
        <p:nvSpPr>
          <p:cNvPr id="4" name="Rounded Rectangle 3"/>
          <p:cNvSpPr/>
          <p:nvPr/>
        </p:nvSpPr>
        <p:spPr>
          <a:xfrm>
            <a:off x="548640" y="2103120"/>
            <a:ext cx="6583680" cy="3840480"/>
          </a:xfrm>
          <a:prstGeom prst="roundRect">
            <a:avLst>
              <a:gd name="adj" fmla="val 5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514600"/>
            <a:ext cx="2743200" cy="365760"/>
          </a:xfrm>
          <a:prstGeom prst="rect">
            <a:avLst/>
          </a:prstGeom>
          <a:noFill/>
        </p:spPr>
        <p:txBody>
          <a:bodyPr wrap="square" lIns="0" rIns="0" tIns="0" bIns="0" anchor="t">
            <a:spAutoFit/>
          </a:bodyPr>
          <a:lstStyle/>
          <a:p>
            <a:pPr algn="l">
              <a:lnSpc>
                <a:spcPct val="120000"/>
              </a:lnSpc>
            </a:pPr>
            <a:r>
              <a:rPr sz="1000" b="0" i="0" spc="260">
                <a:solidFill>
                  <a:srgbClr val="2D8DFF"/>
                </a:solidFill>
                <a:latin typeface="JetBrains Mono"/>
              </a:rPr>
              <a:t>ONE-OFF PROJECT</a:t>
            </a:r>
          </a:p>
        </p:txBody>
      </p:sp>
      <p:sp>
        <p:nvSpPr>
          <p:cNvPr id="6" name="TextBox 5"/>
          <p:cNvSpPr txBox="1"/>
          <p:nvPr/>
        </p:nvSpPr>
        <p:spPr>
          <a:xfrm>
            <a:off x="1005840" y="3017520"/>
            <a:ext cx="5669280" cy="1828800"/>
          </a:xfrm>
          <a:prstGeom prst="rect">
            <a:avLst/>
          </a:prstGeom>
          <a:noFill/>
        </p:spPr>
        <p:txBody>
          <a:bodyPr wrap="square" lIns="0" rIns="0" tIns="0" bIns="0" anchor="t">
            <a:spAutoFit/>
          </a:bodyPr>
          <a:lstStyle/>
          <a:p>
            <a:pPr algn="l">
              <a:lnSpc>
                <a:spcPct val="95000"/>
              </a:lnSpc>
            </a:pPr>
            <a:r>
              <a:rPr sz="13000" b="1" i="0">
                <a:solidFill>
                  <a:srgbClr val="07080C"/>
                </a:solidFill>
                <a:latin typeface="Space Grotesk"/>
              </a:rPr>
              <a:t>£1,750</a:t>
            </a:r>
          </a:p>
        </p:txBody>
      </p:sp>
      <p:sp>
        <p:nvSpPr>
          <p:cNvPr id="7" name="TextBox 6"/>
          <p:cNvSpPr txBox="1"/>
          <p:nvPr/>
        </p:nvSpPr>
        <p:spPr>
          <a:xfrm>
            <a:off x="1005840" y="4937760"/>
            <a:ext cx="5669280" cy="914400"/>
          </a:xfrm>
          <a:prstGeom prst="rect">
            <a:avLst/>
          </a:prstGeom>
          <a:noFill/>
        </p:spPr>
        <p:txBody>
          <a:bodyPr wrap="square" lIns="0" rIns="0" tIns="0" bIns="0" anchor="t">
            <a:spAutoFit/>
          </a:bodyPr>
          <a:lstStyle/>
          <a:p>
            <a:pPr algn="l">
              <a:lnSpc>
                <a:spcPct val="140000"/>
              </a:lnSpc>
            </a:pPr>
            <a:r>
              <a:rPr sz="1500" b="0" i="0">
                <a:solidFill>
                  <a:srgbClr val="525B6E"/>
                </a:solidFill>
                <a:latin typeface="Inter"/>
              </a:rPr>
              <a:t>Complete Shopify 2.0 redesign and rebuild. Delivered, deployed, yours.</a:t>
            </a:r>
          </a:p>
        </p:txBody>
      </p:sp>
      <p:sp>
        <p:nvSpPr>
          <p:cNvPr id="8" name="Rounded Rectangle 7"/>
          <p:cNvSpPr/>
          <p:nvPr/>
        </p:nvSpPr>
        <p:spPr>
          <a:xfrm>
            <a:off x="7315200" y="2103120"/>
            <a:ext cx="4297680" cy="3840480"/>
          </a:xfrm>
          <a:prstGeom prst="roundRect">
            <a:avLst>
              <a:gd name="adj" fmla="val 5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80" y="2514600"/>
            <a:ext cx="2743200" cy="365760"/>
          </a:xfrm>
          <a:prstGeom prst="rect">
            <a:avLst/>
          </a:prstGeom>
          <a:noFill/>
        </p:spPr>
        <p:txBody>
          <a:bodyPr wrap="square" lIns="0" rIns="0" tIns="0" bIns="0" anchor="t">
            <a:spAutoFit/>
          </a:bodyPr>
          <a:lstStyle/>
          <a:p>
            <a:pPr algn="l">
              <a:lnSpc>
                <a:spcPct val="120000"/>
              </a:lnSpc>
            </a:pPr>
            <a:r>
              <a:rPr sz="1000" b="0" i="0" spc="260">
                <a:solidFill>
                  <a:srgbClr val="7C3AED"/>
                </a:solidFill>
                <a:latin typeface="JetBrains Mono"/>
              </a:rPr>
              <a:t>THEREAFTER</a:t>
            </a:r>
          </a:p>
        </p:txBody>
      </p:sp>
      <p:sp>
        <p:nvSpPr>
          <p:cNvPr id="10" name="TextBox 9"/>
          <p:cNvSpPr txBox="1"/>
          <p:nvPr/>
        </p:nvSpPr>
        <p:spPr>
          <a:xfrm>
            <a:off x="7726680" y="3017520"/>
            <a:ext cx="3474720" cy="1280160"/>
          </a:xfrm>
          <a:prstGeom prst="rect">
            <a:avLst/>
          </a:prstGeom>
          <a:noFill/>
        </p:spPr>
        <p:txBody>
          <a:bodyPr wrap="square" lIns="0" rIns="0" tIns="0" bIns="0" anchor="t">
            <a:spAutoFit/>
          </a:bodyPr>
          <a:lstStyle/>
          <a:p>
            <a:pPr algn="l">
              <a:lnSpc>
                <a:spcPct val="95000"/>
              </a:lnSpc>
            </a:pPr>
            <a:r>
              <a:rPr sz="7600" b="1" i="0">
                <a:solidFill>
                  <a:srgbClr val="07080C"/>
                </a:solidFill>
                <a:latin typeface="Space Grotesk"/>
              </a:rPr>
              <a:t>£400</a:t>
            </a:r>
          </a:p>
        </p:txBody>
      </p:sp>
      <p:sp>
        <p:nvSpPr>
          <p:cNvPr id="11" name="TextBox 10"/>
          <p:cNvSpPr txBox="1"/>
          <p:nvPr/>
        </p:nvSpPr>
        <p:spPr>
          <a:xfrm>
            <a:off x="7726680" y="4069080"/>
            <a:ext cx="3474720" cy="365760"/>
          </a:xfrm>
          <a:prstGeom prst="rect">
            <a:avLst/>
          </a:prstGeom>
          <a:noFill/>
        </p:spPr>
        <p:txBody>
          <a:bodyPr wrap="square" lIns="0" rIns="0" tIns="0" bIns="0" anchor="t">
            <a:spAutoFit/>
          </a:bodyPr>
          <a:lstStyle/>
          <a:p>
            <a:pPr algn="l">
              <a:lnSpc>
                <a:spcPct val="120000"/>
              </a:lnSpc>
            </a:pPr>
            <a:r>
              <a:rPr sz="1600" b="0" i="0">
                <a:solidFill>
                  <a:srgbClr val="525B6E"/>
                </a:solidFill>
                <a:latin typeface="Inter"/>
              </a:rPr>
              <a:t>per day</a:t>
            </a:r>
          </a:p>
        </p:txBody>
      </p:sp>
      <p:sp>
        <p:nvSpPr>
          <p:cNvPr id="12" name="TextBox 11"/>
          <p:cNvSpPr txBox="1"/>
          <p:nvPr/>
        </p:nvSpPr>
        <p:spPr>
          <a:xfrm>
            <a:off x="7726680" y="4709160"/>
            <a:ext cx="3474720" cy="1188720"/>
          </a:xfrm>
          <a:prstGeom prst="rect">
            <a:avLst/>
          </a:prstGeom>
          <a:noFill/>
        </p:spPr>
        <p:txBody>
          <a:bodyPr wrap="square" lIns="0" rIns="0" tIns="0" bIns="0" anchor="t">
            <a:spAutoFit/>
          </a:bodyPr>
          <a:lstStyle/>
          <a:p>
            <a:pPr algn="l">
              <a:lnSpc>
                <a:spcPct val="140000"/>
              </a:lnSpc>
            </a:pPr>
            <a:r>
              <a:rPr sz="1200" b="0" i="0">
                <a:solidFill>
                  <a:srgbClr val="525B6E"/>
                </a:solidFill>
                <a:latin typeface="Inter"/>
              </a:rPr>
              <a:t>Consultancy, creative, and strategy billed by the day. No retainer, no minimum. Recommended 1 day / month to keep the store sharp between launches.</a:t>
            </a:r>
          </a:p>
        </p:txBody>
      </p:sp>
      <p:sp>
        <p:nvSpPr>
          <p:cNvPr id="13" name="TextBox 12"/>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14" name="TextBox 13"/>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[ 12 / 13 ]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B"/>
        </a:solidFill>
        <a:effectLst/>
      </p:bgPr>
    </p:bg>
    <p:spTree>
      <p:nvGrpSpPr>
        <p:cNvPr id="1" name=""/>
        <p:cNvGrpSpPr/>
        <p:nvPr/>
      </p:nvGrpSpPr>
      <p:grpSpPr/>
      <p:sp>
        <p:nvSpPr>
          <p:cNvPr id="2" name="TextBox 1"/>
          <p:cNvSpPr txBox="1"/>
          <p:nvPr/>
        </p:nvSpPr>
        <p:spPr>
          <a:xfrm>
            <a:off x="548640" y="548640"/>
            <a:ext cx="4572000" cy="274320"/>
          </a:xfrm>
          <a:prstGeom prst="rect">
            <a:avLst/>
          </a:prstGeom>
          <a:noFill/>
        </p:spPr>
        <p:txBody>
          <a:bodyPr wrap="square" lIns="0" rIns="0" tIns="0" bIns="0" anchor="t">
            <a:spAutoFit/>
          </a:bodyPr>
          <a:lstStyle/>
          <a:p>
            <a:pPr algn="l">
              <a:lnSpc>
                <a:spcPct val="120000"/>
              </a:lnSpc>
            </a:pPr>
            <a:r>
              <a:rPr sz="1000" b="0" i="0" spc="280">
                <a:solidFill>
                  <a:srgbClr val="2D8DFF"/>
                </a:solidFill>
                <a:latin typeface="JetBrains Mono"/>
              </a:rPr>
              <a:t>[ NEXT ] READY TO GRO?</a:t>
            </a:r>
          </a:p>
        </p:txBody>
      </p:sp>
      <p:sp>
        <p:nvSpPr>
          <p:cNvPr id="3" name="TextBox 2"/>
          <p:cNvSpPr txBox="1"/>
          <p:nvPr/>
        </p:nvSpPr>
        <p:spPr>
          <a:xfrm>
            <a:off x="548640" y="1051560"/>
            <a:ext cx="10058400" cy="1554480"/>
          </a:xfrm>
          <a:prstGeom prst="rect">
            <a:avLst/>
          </a:prstGeom>
          <a:noFill/>
        </p:spPr>
        <p:txBody>
          <a:bodyPr wrap="square" lIns="0" rIns="0" tIns="0" bIns="0" anchor="t">
            <a:spAutoFit/>
          </a:bodyPr>
          <a:lstStyle/>
          <a:p>
            <a:pPr algn="l">
              <a:lnSpc>
                <a:spcPct val="100000"/>
              </a:lnSpc>
            </a:pPr>
            <a:r>
              <a:rPr sz="8800" b="1" i="0">
                <a:solidFill>
                  <a:srgbClr val="07080C"/>
                </a:solidFill>
                <a:latin typeface="Space Grotesk"/>
              </a:rPr>
              <a:t>Let's build it.</a:t>
            </a:r>
          </a:p>
        </p:txBody>
      </p:sp>
      <p:sp>
        <p:nvSpPr>
          <p:cNvPr id="4" name="TextBox 3"/>
          <p:cNvSpPr txBox="1"/>
          <p:nvPr/>
        </p:nvSpPr>
        <p:spPr>
          <a:xfrm>
            <a:off x="548640" y="2240280"/>
            <a:ext cx="10058400" cy="1280160"/>
          </a:xfrm>
          <a:prstGeom prst="rect">
            <a:avLst/>
          </a:prstGeom>
          <a:noFill/>
        </p:spPr>
        <p:txBody>
          <a:bodyPr wrap="square" lIns="0" rIns="0" tIns="0" bIns="0" anchor="t">
            <a:spAutoFit/>
          </a:bodyPr>
          <a:lstStyle/>
          <a:p>
            <a:pPr algn="l">
              <a:lnSpc>
                <a:spcPct val="100000"/>
              </a:lnSpc>
            </a:pPr>
            <a:r>
              <a:rPr sz="5200" b="0" i="1">
                <a:solidFill>
                  <a:srgbClr val="00C9A7"/>
                </a:solidFill>
                <a:latin typeface="Space Grotesk"/>
              </a:rPr>
              <a:t>Say go and we're rolling.</a:t>
            </a:r>
          </a:p>
        </p:txBody>
      </p:sp>
      <p:sp>
        <p:nvSpPr>
          <p:cNvPr id="5" name="Rounded Rectangle 4"/>
          <p:cNvSpPr/>
          <p:nvPr/>
        </p:nvSpPr>
        <p:spPr>
          <a:xfrm>
            <a:off x="548640" y="3931920"/>
            <a:ext cx="5486400" cy="2377440"/>
          </a:xfrm>
          <a:prstGeom prst="roundRect">
            <a:avLst>
              <a:gd name="adj" fmla="val 5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4251960"/>
            <a:ext cx="2743200" cy="320040"/>
          </a:xfrm>
          <a:prstGeom prst="rect">
            <a:avLst/>
          </a:prstGeom>
          <a:noFill/>
        </p:spPr>
        <p:txBody>
          <a:bodyPr wrap="square" lIns="0" rIns="0" tIns="0" bIns="0" anchor="t">
            <a:spAutoFit/>
          </a:bodyPr>
          <a:lstStyle/>
          <a:p>
            <a:pPr algn="l">
              <a:lnSpc>
                <a:spcPct val="120000"/>
              </a:lnSpc>
            </a:pPr>
            <a:r>
              <a:rPr sz="1000" b="0" i="0" spc="260">
                <a:solidFill>
                  <a:srgbClr val="2D8DFF"/>
                </a:solidFill>
                <a:latin typeface="JetBrains Mono"/>
              </a:rPr>
              <a:t>TALK TO US</a:t>
            </a:r>
          </a:p>
        </p:txBody>
      </p:sp>
      <p:sp>
        <p:nvSpPr>
          <p:cNvPr id="7" name="TextBox 6"/>
          <p:cNvSpPr txBox="1"/>
          <p:nvPr/>
        </p:nvSpPr>
        <p:spPr>
          <a:xfrm>
            <a:off x="960120" y="4663440"/>
            <a:ext cx="4663440" cy="457200"/>
          </a:xfrm>
          <a:prstGeom prst="rect">
            <a:avLst/>
          </a:prstGeom>
          <a:noFill/>
        </p:spPr>
        <p:txBody>
          <a:bodyPr wrap="square" lIns="0" rIns="0" tIns="0" bIns="0" anchor="t">
            <a:spAutoFit/>
          </a:bodyPr>
          <a:lstStyle/>
          <a:p>
            <a:pPr algn="l">
              <a:lnSpc>
                <a:spcPct val="120000"/>
              </a:lnSpc>
            </a:pPr>
            <a:r>
              <a:rPr sz="2200" b="1" i="0">
                <a:solidFill>
                  <a:srgbClr val="07080C"/>
                </a:solidFill>
                <a:latin typeface="Space Grotesk"/>
              </a:rPr>
              <a:t>hello@webgro.co.uk</a:t>
            </a:r>
          </a:p>
        </p:txBody>
      </p:sp>
      <p:sp>
        <p:nvSpPr>
          <p:cNvPr id="8" name="TextBox 7"/>
          <p:cNvSpPr txBox="1"/>
          <p:nvPr/>
        </p:nvSpPr>
        <p:spPr>
          <a:xfrm>
            <a:off x="960120" y="5212080"/>
            <a:ext cx="4663440" cy="457200"/>
          </a:xfrm>
          <a:prstGeom prst="rect">
            <a:avLst/>
          </a:prstGeom>
          <a:noFill/>
        </p:spPr>
        <p:txBody>
          <a:bodyPr wrap="square" lIns="0" rIns="0" tIns="0" bIns="0" anchor="t">
            <a:spAutoFit/>
          </a:bodyPr>
          <a:lstStyle/>
          <a:p>
            <a:pPr algn="l">
              <a:lnSpc>
                <a:spcPct val="120000"/>
              </a:lnSpc>
            </a:pPr>
            <a:r>
              <a:rPr sz="1600" b="0" i="0">
                <a:solidFill>
                  <a:srgbClr val="525B6E"/>
                </a:solidFill>
                <a:latin typeface="Inter"/>
              </a:rPr>
              <a:t>+44 (0) 1344 231 119</a:t>
            </a:r>
          </a:p>
        </p:txBody>
      </p:sp>
      <p:sp>
        <p:nvSpPr>
          <p:cNvPr id="9" name="TextBox 8"/>
          <p:cNvSpPr txBox="1"/>
          <p:nvPr/>
        </p:nvSpPr>
        <p:spPr>
          <a:xfrm>
            <a:off x="960120" y="5623560"/>
            <a:ext cx="4663440" cy="548640"/>
          </a:xfrm>
          <a:prstGeom prst="rect">
            <a:avLst/>
          </a:prstGeom>
          <a:noFill/>
        </p:spPr>
        <p:txBody>
          <a:bodyPr wrap="square" lIns="0" rIns="0" tIns="0" bIns="0" anchor="t">
            <a:spAutoFit/>
          </a:bodyPr>
          <a:lstStyle/>
          <a:p>
            <a:pPr algn="l">
              <a:lnSpc>
                <a:spcPct val="130000"/>
              </a:lnSpc>
            </a:pPr>
            <a:r>
              <a:rPr sz="1200" b="0" i="0">
                <a:solidFill>
                  <a:srgbClr val="8B94A8"/>
                </a:solidFill>
                <a:latin typeface="Inter"/>
              </a:rPr>
              <a:t>12 Longshot Lane, Bracknell, Berkshire, RG12 1RL</a:t>
            </a:r>
          </a:p>
        </p:txBody>
      </p:sp>
      <p:sp>
        <p:nvSpPr>
          <p:cNvPr id="10" name="Rounded Rectangle 9"/>
          <p:cNvSpPr/>
          <p:nvPr/>
        </p:nvSpPr>
        <p:spPr>
          <a:xfrm>
            <a:off x="6217920" y="3931920"/>
            <a:ext cx="5422392" cy="2377440"/>
          </a:xfrm>
          <a:prstGeom prst="roundRect">
            <a:avLst>
              <a:gd name="adj" fmla="val 5000"/>
            </a:avLst>
          </a:prstGeom>
          <a:solidFill>
            <a:srgbClr val="FFFFFF"/>
          </a:solidFill>
          <a:ln w="9525">
            <a:solidFill>
              <a:srgbClr val="E6EA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4251960"/>
            <a:ext cx="2743200" cy="320040"/>
          </a:xfrm>
          <a:prstGeom prst="rect">
            <a:avLst/>
          </a:prstGeom>
          <a:noFill/>
        </p:spPr>
        <p:txBody>
          <a:bodyPr wrap="square" lIns="0" rIns="0" tIns="0" bIns="0" anchor="t">
            <a:spAutoFit/>
          </a:bodyPr>
          <a:lstStyle/>
          <a:p>
            <a:pPr algn="l">
              <a:lnSpc>
                <a:spcPct val="120000"/>
              </a:lnSpc>
            </a:pPr>
            <a:r>
              <a:rPr sz="1000" b="0" i="0" spc="260">
                <a:solidFill>
                  <a:srgbClr val="7C3AED"/>
                </a:solidFill>
                <a:latin typeface="JetBrains Mono"/>
              </a:rPr>
              <a:t>THE LEGAL STUFF</a:t>
            </a:r>
          </a:p>
        </p:txBody>
      </p:sp>
      <p:sp>
        <p:nvSpPr>
          <p:cNvPr id="12" name="TextBox 11"/>
          <p:cNvSpPr txBox="1"/>
          <p:nvPr/>
        </p:nvSpPr>
        <p:spPr>
          <a:xfrm>
            <a:off x="6629400" y="4663440"/>
            <a:ext cx="4599432" cy="1463040"/>
          </a:xfrm>
          <a:prstGeom prst="rect">
            <a:avLst/>
          </a:prstGeom>
          <a:noFill/>
        </p:spPr>
        <p:txBody>
          <a:bodyPr wrap="square" lIns="0" rIns="0" tIns="0" bIns="0" anchor="t">
            <a:spAutoFit/>
          </a:bodyPr>
          <a:lstStyle/>
          <a:p>
            <a:pPr algn="l">
              <a:lnSpc>
                <a:spcPct val="150000"/>
              </a:lnSpc>
            </a:pPr>
            <a:r>
              <a:rPr sz="1200" b="0" i="0">
                <a:solidFill>
                  <a:srgbClr val="525B6E"/>
                </a:solidFill>
                <a:latin typeface="Inter"/>
              </a:rPr>
              <a:t>50% deposit up front, 50% due before launch. Day-rate invoices settled 14 days after issue. All prices exclude VAT. T&amp;Cs on signing.</a:t>
            </a:r>
          </a:p>
        </p:txBody>
      </p:sp>
      <p:sp>
        <p:nvSpPr>
          <p:cNvPr id="13" name="TextBox 12"/>
          <p:cNvSpPr txBox="1"/>
          <p:nvPr/>
        </p:nvSpPr>
        <p:spPr>
          <a:xfrm>
            <a:off x="6629400" y="5806439"/>
            <a:ext cx="4599432" cy="365760"/>
          </a:xfrm>
          <a:prstGeom prst="rect">
            <a:avLst/>
          </a:prstGeom>
          <a:noFill/>
        </p:spPr>
        <p:txBody>
          <a:bodyPr wrap="square" lIns="0" rIns="0" tIns="0" bIns="0" anchor="t">
            <a:spAutoFit/>
          </a:bodyPr>
          <a:lstStyle/>
          <a:p>
            <a:pPr algn="l">
              <a:lnSpc>
                <a:spcPct val="120000"/>
              </a:lnSpc>
            </a:pPr>
            <a:r>
              <a:rPr sz="900" b="0" i="0" spc="220">
                <a:solidFill>
                  <a:srgbClr val="8B94A8"/>
                </a:solidFill>
                <a:latin typeface="JetBrains Mono"/>
              </a:rPr>
              <a:t>WEBGRO LTD  ·  REG 10889889  ·  PART OF BROADBRIDGE GROUP</a:t>
            </a:r>
          </a:p>
        </p:txBody>
      </p:sp>
      <p:sp>
        <p:nvSpPr>
          <p:cNvPr id="14" name="TextBox 13"/>
          <p:cNvSpPr txBox="1"/>
          <p:nvPr/>
        </p:nvSpPr>
        <p:spPr>
          <a:xfrm>
            <a:off x="548640" y="6446520"/>
            <a:ext cx="2743200" cy="274320"/>
          </a:xfrm>
          <a:prstGeom prst="rect">
            <a:avLst/>
          </a:prstGeom>
          <a:noFill/>
        </p:spPr>
        <p:txBody>
          <a:bodyPr wrap="square" lIns="0" rIns="0" tIns="0" bIns="0" anchor="t">
            <a:spAutoFit/>
          </a:bodyPr>
          <a:lstStyle/>
          <a:p>
            <a:pPr algn="l">
              <a:lnSpc>
                <a:spcPct val="120000"/>
              </a:lnSpc>
            </a:pPr>
            <a:r>
              <a:rPr sz="900" b="0" i="0" spc="200">
                <a:solidFill>
                  <a:srgbClr val="8B94A8"/>
                </a:solidFill>
                <a:latin typeface="JetBrains Mono"/>
              </a:rPr>
              <a:t>webgro.co.uk</a:t>
            </a:r>
          </a:p>
        </p:txBody>
      </p:sp>
      <p:sp>
        <p:nvSpPr>
          <p:cNvPr id="15" name="TextBox 14"/>
          <p:cNvSpPr txBox="1"/>
          <p:nvPr/>
        </p:nvSpPr>
        <p:spPr>
          <a:xfrm>
            <a:off x="10911535" y="6446520"/>
            <a:ext cx="1097280" cy="274320"/>
          </a:xfrm>
          <a:prstGeom prst="rect">
            <a:avLst/>
          </a:prstGeom>
          <a:noFill/>
        </p:spPr>
        <p:txBody>
          <a:bodyPr wrap="square" lIns="0" rIns="0" tIns="0" bIns="0" anchor="t">
            <a:spAutoFit/>
          </a:bodyPr>
          <a:lstStyle/>
          <a:p>
            <a:pPr algn="r">
              <a:lnSpc>
                <a:spcPct val="120000"/>
              </a:lnSpc>
            </a:pPr>
            <a:r>
              <a:rPr sz="900" b="0" i="0" spc="200">
                <a:solidFill>
                  <a:srgbClr val="8B94A8"/>
                </a:solidFill>
                <a:latin typeface="JetBrains Mono"/>
              </a:rPr>
              <a:t>[ 13 / 13 ]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