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WEBGRO / 2026 ]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114800" cy="73152"/>
          </a:xfrm>
          <a:prstGeom prst="rect">
            <a:avLst/>
          </a:prstGeom>
          <a:gradFill flip="none" rotWithShape="1">
            <a:gsLst>
              <a:gs pos="0">
                <a:srgbClr val="2D8DFF"/>
              </a:gs>
              <a:gs pos="50000">
                <a:srgbClr val="7C3AED"/>
              </a:gs>
              <a:gs pos="100000">
                <a:srgbClr val="00C9A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EDEFF4"/>
                </a:solidFill>
                <a:latin typeface="Space Grotesk"/>
              </a:rPr>
              <a:t>A proposal for</a:t>
            </a:r>
          </a:p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EDEFF4"/>
                </a:solidFill>
                <a:latin typeface="Space Grotesk"/>
              </a:rPr>
              <a:t>Ithaca Roofing.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9AA6BC"/>
                </a:solidFill>
                <a:latin typeface="Inter"/>
              </a:rPr>
              <a:t>A custom WordPress rebuild of the existing site, with drag-and-drop editing and ongoing maintenance. Written April 2026.</a:t>
            </a:r>
          </a:p>
        </p:txBody>
      </p:sp>
      <p:pic>
        <p:nvPicPr>
          <p:cNvPr id="6" name="Picture 5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69280"/>
            <a:ext cx="2103120" cy="6823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60">
                <a:solidFill>
                  <a:srgbClr val="9AA6BC"/>
                </a:solidFill>
                <a:latin typeface="JetBrains Mono"/>
              </a:rPr>
              <a:t>AI-FIRST eCOMMERCE &amp; WORDPRESS AGENCY  ·  BRACKNELL, UK</a:t>
            </a:r>
          </a:p>
        </p:txBody>
      </p:sp>
      <p:sp>
        <p:nvSpPr>
          <p:cNvPr id="8" name="Oval 7"/>
          <p:cNvSpPr/>
          <p:nvPr/>
        </p:nvSpPr>
        <p:spPr>
          <a:xfrm>
            <a:off x="11496751" y="6080760"/>
            <a:ext cx="146304" cy="146304"/>
          </a:xfrm>
          <a:prstGeom prst="ellipse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77440"/>
            <a:ext cx="73152" cy="2103120"/>
          </a:xfrm>
          <a:prstGeom prst="rect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2D8DFF"/>
                </a:solidFill>
                <a:latin typeface="Space Grotesk"/>
              </a:rPr>
              <a:t>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7080C"/>
                </a:solidFill>
                <a:latin typeface="Space Grotesk"/>
              </a:rPr>
              <a:t>Get to know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25B6E"/>
                </a:solidFill>
                <a:latin typeface="Inter"/>
              </a:rPr>
              <a:t>The studio, the record, and the awards before we talk about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[ 02 / 13 ]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[ 01 ] 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07080C"/>
                </a:solidFill>
                <a:latin typeface="Space Grotesk"/>
              </a:rPr>
              <a:t>Hello.</a:t>
            </a:r>
          </a:p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07080C"/>
                </a:solidFill>
                <a:latin typeface="Space Grotesk"/>
              </a:rPr>
              <a:t>We're Webgro.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6400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25B6E"/>
                </a:solidFill>
                <a:latin typeface="Inter"/>
              </a:rPr>
              <a:t>A senior studio building the sharp end of modern web. Fifteen years deep on WordPress and Shopify, with custom design, development, and ongoing care built in. No template bloat, no agency-hopping between teams, no hero launches that crumble the week after.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097280"/>
            <a:ext cx="420624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39" y="15544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2D8DFF"/>
                </a:solidFill>
                <a:latin typeface="Space Grotesk"/>
              </a:rPr>
              <a:t>15+ YRS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39" y="2423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B6E"/>
                </a:solidFill>
                <a:latin typeface="Inter"/>
              </a:rPr>
              <a:t>WordPress &amp; eCommerce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39" y="2880360"/>
            <a:ext cx="3474720" cy="9525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39" y="310896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7C3AED"/>
                </a:solidFill>
                <a:latin typeface="Space Grotesk"/>
              </a:rPr>
              <a:t>5x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39" y="3977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B6E"/>
                </a:solidFill>
                <a:latin typeface="Inter"/>
              </a:rPr>
              <a:t>Award-winning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39" y="4434840"/>
            <a:ext cx="3474720" cy="9525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39" y="466344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00C9A7"/>
                </a:solidFill>
                <a:latin typeface="Space Grotesk"/>
              </a:rPr>
              <a:t>120+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9" y="55321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B6E"/>
                </a:solidFill>
                <a:latin typeface="Inter"/>
              </a:rPr>
              <a:t>Sites launched &amp; maintained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[ 03 / 13 ]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[ 02 ] 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7080C"/>
                </a:solidFill>
                <a:latin typeface="Space Grotesk"/>
              </a:rPr>
              <a:t>Six capabilities, one studio.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25B6E"/>
                </a:solidFill>
                <a:latin typeface="Inter"/>
              </a:rPr>
              <a:t>No agency-hopping for strategy, build, or marketing. Same team across the whole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69417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3063240"/>
            <a:ext cx="164592" cy="164592"/>
          </a:xfrm>
          <a:prstGeom prst="ellipse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2D8DFF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7080C"/>
                </a:solidFill>
                <a:latin typeface="Space Grotesk"/>
              </a:rPr>
              <a:t>Websites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Shopify &amp; WordPress builds, fast by default.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743200"/>
            <a:ext cx="369417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72584" y="306324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7C3AED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3429000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7080C"/>
                </a:solidFill>
                <a:latin typeface="Space Grotesk"/>
              </a:rPr>
              <a:t>Consultancy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931920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Senior eCommerce expertise, shaped to your team.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743200"/>
            <a:ext cx="369417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76488" y="3063240"/>
            <a:ext cx="164592" cy="164592"/>
          </a:xfrm>
          <a:prstGeom prst="ellipse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C9A7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3429000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7080C"/>
                </a:solidFill>
                <a:latin typeface="Space Grotesk"/>
              </a:rPr>
              <a:t>Automation &amp;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931920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Production AI that earns its keep week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27447"/>
            <a:ext cx="369417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047487"/>
            <a:ext cx="164592" cy="164592"/>
          </a:xfrm>
          <a:prstGeom prst="ellipse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00176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2D8DFF"/>
                </a:solidFill>
                <a:latin typeface="JetBrains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13247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7080C"/>
                </a:solidFill>
                <a:latin typeface="Space Grotesk"/>
              </a:rPr>
              <a:t>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16167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Technical foundations, content that compounds.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4727447"/>
            <a:ext cx="369417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72584" y="5047487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500176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7C3AED"/>
                </a:solidFill>
                <a:latin typeface="JetBrains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2584" y="5413247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7080C"/>
                </a:solidFill>
                <a:latin typeface="Space Grotesk"/>
              </a:rPr>
              <a:t>Marketing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2584" y="5916167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Paid + email + analytics as one loop.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727447"/>
            <a:ext cx="369417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76488" y="5047487"/>
            <a:ext cx="164592" cy="164592"/>
          </a:xfrm>
          <a:prstGeom prst="ellipse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0808" y="500176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00C9A7"/>
                </a:solidFill>
                <a:latin typeface="JetBrains Mono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5413247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7080C"/>
                </a:solidFill>
                <a:latin typeface="Space Grotesk"/>
              </a:rPr>
              <a:t>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5916167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Systems, not decoration.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[ 04 / 13 ]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[ 03 ] AWARDS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7080C"/>
                </a:solidFill>
                <a:latin typeface="Space Grotesk"/>
              </a:rPr>
              <a:t>Five-time award winners.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127" y="26060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487" y="3063240"/>
            <a:ext cx="1005840" cy="10058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80947" y="3314700"/>
            <a:ext cx="502920" cy="502920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4160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7C3AED"/>
                </a:solidFill>
                <a:latin typeface="Space Grotesk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4663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7080C"/>
                </a:solidFill>
                <a:latin typeface="Inter"/>
              </a:rPr>
              <a:t>Best Web Design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SOUTH EAST ENGLAND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6847" y="26060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61207" y="3063240"/>
            <a:ext cx="1005840" cy="1005840"/>
          </a:xfrm>
          <a:prstGeom prst="ellipse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3512667" y="3314700"/>
            <a:ext cx="502920" cy="502920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9727" y="4160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00C9A7"/>
                </a:solidFill>
                <a:latin typeface="Space Grotesk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727" y="4663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7080C"/>
                </a:solidFill>
                <a:latin typeface="Inter"/>
              </a:rPr>
              <a:t>Best eCommerce Consultant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9727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SOUTH EAST ENGLAND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8567" y="26060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92927" y="3063240"/>
            <a:ext cx="1005840" cy="1005840"/>
          </a:xfrm>
          <a:prstGeom prst="ellipse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5844387" y="3314700"/>
            <a:ext cx="502920" cy="502920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447" y="4160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2D8DFF"/>
                </a:solidFill>
                <a:latin typeface="Space Grotesk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4663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7080C"/>
                </a:solidFill>
                <a:latin typeface="Inter"/>
              </a:rPr>
              <a:t>Best Web Design Agency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UNITED KINGDOM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0287" y="26060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4647" y="3063240"/>
            <a:ext cx="1005840" cy="1005840"/>
          </a:xfrm>
          <a:prstGeom prst="ellipse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5-Point Star 23"/>
          <p:cNvSpPr/>
          <p:nvPr/>
        </p:nvSpPr>
        <p:spPr>
          <a:xfrm>
            <a:off x="8176107" y="3314700"/>
            <a:ext cx="502920" cy="502920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3167" y="4160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2D8DFF"/>
                </a:solidFill>
                <a:latin typeface="Space Grotesk"/>
              </a:rPr>
              <a:t>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167" y="4663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7080C"/>
                </a:solidFill>
                <a:latin typeface="Inter"/>
              </a:rPr>
              <a:t>Best Web Design Agency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3167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SOUTH EAST ENGLAND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2007" y="26060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56367" y="3063240"/>
            <a:ext cx="1005840" cy="1005840"/>
          </a:xfrm>
          <a:prstGeom prst="ellipse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>
            <a:off x="10507827" y="3314700"/>
            <a:ext cx="502920" cy="502920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4887" y="4160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2D8DFF"/>
                </a:solidFill>
                <a:latin typeface="Space Grotesk"/>
              </a:rPr>
              <a:t>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4887" y="4663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7080C"/>
                </a:solidFill>
                <a:latin typeface="Inter"/>
              </a:rPr>
              <a:t>Best Web Design Agency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4887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BERKSHIRE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[ 05 / 13 ]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77440"/>
            <a:ext cx="73152" cy="2103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7C3AED"/>
                </a:solidFill>
                <a:latin typeface="Space Grotesk"/>
              </a:rPr>
              <a:t>02.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7080C"/>
                </a:solidFill>
                <a:latin typeface="Space Grotesk"/>
              </a:rPr>
              <a:t>Selected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25B6E"/>
                </a:solidFill>
                <a:latin typeface="Inter"/>
              </a:rPr>
              <a:t>Three WordPress service businesses, rebuilt, launched, and kept current.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[ 06 / 13 ]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CASE STUDY / 2025 ]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7080C"/>
                </a:solidFill>
                <a:latin typeface="Space Grotesk"/>
              </a:rPr>
              <a:t>Little Muddy Boots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8892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935224"/>
            <a:ext cx="91440" cy="91440"/>
          </a:xfrm>
          <a:prstGeom prst="ellipse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62072"/>
            <a:ext cx="3108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00">
                <a:solidFill>
                  <a:srgbClr val="07080C"/>
                </a:solidFill>
                <a:latin typeface="JetBrains Mono"/>
              </a:rPr>
              <a:t>littlemuddyboots.co.uk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6217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25B6E"/>
                </a:solidFill>
                <a:latin typeface="Space Grotesk"/>
              </a:rPr>
              <a:t>A mobile-first WordPress redesign for a service business, with a custom postcode-search tool so visitors know instantly whether the service covers their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20">
                <a:solidFill>
                  <a:srgbClr val="8B94A8"/>
                </a:solidFill>
                <a:latin typeface="JetBrains Mono"/>
              </a:rP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7080C"/>
                </a:solidFill>
                <a:latin typeface="Inter"/>
              </a:rPr>
              <a:t>WordPress redesign, custom postcode search, mobile-first 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914400"/>
            <a:ext cx="46634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ttle-muddy-boots.jpg"/>
          <p:cNvPicPr>
            <a:picLocks noChangeAspect="1"/>
          </p:cNvPicPr>
          <p:nvPr/>
        </p:nvPicPr>
        <p:blipFill>
          <a:blip r:embed="rId2"/>
          <a:srcRect l="24215" r="24215"/>
          <a:stretch>
            <a:fillRect/>
          </a:stretch>
        </p:blipFill>
        <p:spPr>
          <a:xfrm>
            <a:off x="7150608" y="1024128"/>
            <a:ext cx="4443984" cy="4809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50608" y="5833872"/>
            <a:ext cx="731520" cy="25400"/>
          </a:xfrm>
          <a:prstGeom prst="rect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[ 07 / 13 ]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7C3AED"/>
                </a:solidFill>
                <a:latin typeface="JetBrains Mono"/>
              </a:rPr>
              <a:t>[ CASE STUDY / 2025 ]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7080C"/>
                </a:solidFill>
                <a:latin typeface="Space Grotesk"/>
              </a:rPr>
              <a:t>Space 4 U Self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8892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93522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62072"/>
            <a:ext cx="3108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00">
                <a:solidFill>
                  <a:srgbClr val="07080C"/>
                </a:solidFill>
                <a:latin typeface="JetBrains Mono"/>
              </a:rPr>
              <a:t>space4uselfstorage.co.uk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6217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25B6E"/>
                </a:solidFill>
                <a:latin typeface="Space Grotesk"/>
              </a:rPr>
              <a:t>A WordPress redesign for a regional self-storage operator. Clarity, speed, and a direct path from visitor to unit enquiry.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20">
                <a:solidFill>
                  <a:srgbClr val="8B94A8"/>
                </a:solidFill>
                <a:latin typeface="JetBrains Mono"/>
              </a:rP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7080C"/>
                </a:solidFill>
                <a:latin typeface="Inter"/>
              </a:rPr>
              <a:t>WordPress redesign, conversion-led UX, ongoing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914400"/>
            <a:ext cx="46634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ace4u.jpg"/>
          <p:cNvPicPr>
            <a:picLocks noChangeAspect="1"/>
          </p:cNvPicPr>
          <p:nvPr/>
        </p:nvPicPr>
        <p:blipFill>
          <a:blip r:embed="rId2"/>
          <a:srcRect l="19209" r="19209"/>
          <a:stretch>
            <a:fillRect/>
          </a:stretch>
        </p:blipFill>
        <p:spPr>
          <a:xfrm>
            <a:off x="7150608" y="1024128"/>
            <a:ext cx="4443984" cy="4809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50608" y="5833872"/>
            <a:ext cx="73152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[ 08 / 13 ]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00C9A7"/>
                </a:solidFill>
                <a:latin typeface="JetBrains Mono"/>
              </a:rPr>
              <a:t>[ CASE STUDY / 2025 → PRESENT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7080C"/>
                </a:solidFill>
                <a:latin typeface="Space Grotesk"/>
              </a:rPr>
              <a:t>Paragon Freight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8892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935224"/>
            <a:ext cx="91440" cy="91440"/>
          </a:xfrm>
          <a:prstGeom prst="ellipse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62072"/>
            <a:ext cx="3108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00">
                <a:solidFill>
                  <a:srgbClr val="07080C"/>
                </a:solidFill>
                <a:latin typeface="JetBrains Mono"/>
              </a:rPr>
              <a:t>paragonfreight.co.uk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6217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25B6E"/>
                </a:solidFill>
                <a:latin typeface="Space Grotesk"/>
              </a:rPr>
              <a:t>A B2B WordPress rebuild for a freight operator, with a live currency selector and enquiry flow shaped around international buyers.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20">
                <a:solidFill>
                  <a:srgbClr val="8B94A8"/>
                </a:solidFill>
                <a:latin typeface="JetBrains Mono"/>
              </a:rP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7080C"/>
                </a:solidFill>
                <a:latin typeface="Inter"/>
              </a:rPr>
              <a:t>WordPress build, currency selector, enquiry flow, retainer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914400"/>
            <a:ext cx="46634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ragon-freight.jpg"/>
          <p:cNvPicPr>
            <a:picLocks noChangeAspect="1"/>
          </p:cNvPicPr>
          <p:nvPr/>
        </p:nvPicPr>
        <p:blipFill>
          <a:blip r:embed="rId2"/>
          <a:srcRect l="19232" r="19232"/>
          <a:stretch>
            <a:fillRect/>
          </a:stretch>
        </p:blipFill>
        <p:spPr>
          <a:xfrm>
            <a:off x="7150608" y="1024128"/>
            <a:ext cx="4443984" cy="4809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50608" y="5833872"/>
            <a:ext cx="731520" cy="25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[ 09 / 13 ]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77440"/>
            <a:ext cx="73152" cy="2103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00C9A7"/>
                </a:solidFill>
                <a:latin typeface="Space Grotesk"/>
              </a:rPr>
              <a:t>03.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7080C"/>
                </a:solidFill>
                <a:latin typeface="Space Grotesk"/>
              </a:rPr>
              <a:t>What we'll do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25B6E"/>
                </a:solidFill>
                <a:latin typeface="Inter"/>
              </a:rPr>
              <a:t>From Ithaca Roofing's brief, translated into scope and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[ 10 / 13 ]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SCOPE ] 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7080C"/>
                </a:solidFill>
                <a:latin typeface="Space Grotesk"/>
              </a:rPr>
              <a:t>Three lines of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73152" cy="1234440"/>
          </a:xfrm>
          <a:prstGeom prst="rect">
            <a:avLst/>
          </a:prstGeom>
          <a:solidFill>
            <a:srgbClr val="2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2D8DFF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974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7080C"/>
                </a:solidFill>
                <a:latin typeface="Space Grotesk"/>
              </a:rPr>
              <a:t>Custom WordPress design &amp;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74320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25B6E"/>
                </a:solidFill>
                <a:latin typeface="Inter"/>
              </a:rPr>
              <a:t>A fresh design tailored to Ithaca Roofing, then built from the ground up on WordPress. No third-party themes, no template bloat. Every section shaped around your content and your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7C3AED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690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7080C"/>
                </a:solidFill>
                <a:latin typeface="Space Grotesk"/>
              </a:rPr>
              <a:t>Drag-and-drop editing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1480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25B6E"/>
                </a:solidFill>
                <a:latin typeface="Inter"/>
              </a:rPr>
              <a:t>Once the build's signed off, we convert every section into editable blocks. Your team can update copy, swap images, and add new pages without touching code or calling a developer.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212080"/>
            <a:ext cx="73152" cy="1234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00C9A7"/>
                </a:solidFill>
                <a:latin typeface="JetBrain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40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7080C"/>
                </a:solidFill>
                <a:latin typeface="Space Grotesk"/>
              </a:rPr>
              <a:t>Ongoing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48640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25B6E"/>
                </a:solidFill>
                <a:latin typeface="Inter"/>
              </a:rPr>
              <a:t>Managed hosting, daily backups, weekly CMS and plugin updates, plus performance and security checks. Your site stays fast, secure, and current, month after month.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[ 11 / 13 ]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INVESTMENT ] FOR ITHACA ROOFING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07080C"/>
                </a:solidFill>
                <a:latin typeface="Space Grotesk"/>
              </a:rPr>
              <a:t>The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65836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60">
                <a:solidFill>
                  <a:srgbClr val="2D8DFF"/>
                </a:solidFill>
                <a:latin typeface="JetBrains Mono"/>
              </a:rPr>
              <a:t>ONE-OFF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0" b="1" i="0">
                <a:solidFill>
                  <a:srgbClr val="07080C"/>
                </a:solidFill>
                <a:latin typeface="Space Grotesk"/>
              </a:rPr>
              <a:t>£3,750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25B6E"/>
                </a:solidFill>
                <a:latin typeface="Inter"/>
              </a:rPr>
              <a:t>Custom WordPress redesign and build, converted to drag-and-drop editing. Delivered, deployed, yours.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42976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60">
                <a:solidFill>
                  <a:srgbClr val="7C3AED"/>
                </a:solidFill>
                <a:latin typeface="JetBrains Mono"/>
              </a:rPr>
              <a:t>ONGOING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30175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b="1" i="0">
                <a:solidFill>
                  <a:srgbClr val="07080C"/>
                </a:solidFill>
                <a:latin typeface="Space Grotesk"/>
              </a:rPr>
              <a:t>£120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4069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25B6E"/>
                </a:solidFill>
                <a:latin typeface="Inter"/>
              </a:rPr>
              <a:t>per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470916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Managed hosting, daily backups, weekly CMS and plugin updates, plus performance and security checks. No lock-in, cancel anytime.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[ 12 / 13 ]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80">
                <a:solidFill>
                  <a:srgbClr val="2D8DFF"/>
                </a:solidFill>
                <a:latin typeface="JetBrains Mono"/>
              </a:rPr>
              <a:t>[ NEXT ] READY TO GRO?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07080C"/>
                </a:solidFill>
                <a:latin typeface="Space Grotesk"/>
              </a:rPr>
              <a:t>Let's build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0" i="1">
                <a:solidFill>
                  <a:srgbClr val="00C9A7"/>
                </a:solidFill>
                <a:latin typeface="Space Grotesk"/>
              </a:rPr>
              <a:t>Say go and we're rolling.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93192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60">
                <a:solidFill>
                  <a:srgbClr val="2D8DFF"/>
                </a:solidFill>
                <a:latin typeface="JetBrains Mono"/>
              </a:rPr>
              <a:t>TALK TO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663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7080C"/>
                </a:solidFill>
                <a:latin typeface="Space Grotesk"/>
              </a:rPr>
              <a:t>hello@webgro.co.uk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120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25B6E"/>
                </a:solidFill>
                <a:latin typeface="Inter"/>
              </a:rPr>
              <a:t>+44 (0) 1344 231 119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6235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B94A8"/>
                </a:solidFill>
                <a:latin typeface="Inter"/>
              </a:rPr>
              <a:t>12 Longshot Lane, Bracknell, Berkshire, RG12 1RL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42239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60">
                <a:solidFill>
                  <a:srgbClr val="7C3AED"/>
                </a:solidFill>
                <a:latin typeface="JetBrains Mono"/>
              </a:rPr>
              <a:t>THE LEGAL STUFF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663440"/>
            <a:ext cx="459943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25B6E"/>
                </a:solidFill>
                <a:latin typeface="Inter"/>
              </a:rPr>
              <a:t>50% deposit up front, 50% due before launch. Maintenance is £120/month paid in advance by Direct Debit, starting the month after go-live. All prices exclude VAT. T&amp;Cs on signing.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806439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20">
                <a:solidFill>
                  <a:srgbClr val="8B94A8"/>
                </a:solidFill>
                <a:latin typeface="JetBrains Mono"/>
              </a:rPr>
              <a:t>WEBGRO LTD  ·  REG 10889889  ·  PART OF BROADBRIDGE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webgro.co.uk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B94A8"/>
                </a:solidFill>
                <a:latin typeface="JetBrains Mono"/>
              </a:rPr>
              <a:t>[ 13 / 13 ]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